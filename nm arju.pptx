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4089094"/>
            <a:ext cx="5514975" cy="970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dvwa.co.uk/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95"/>
              </a:spcBef>
            </a:pPr>
            <a:r>
              <a:rPr dirty="0"/>
              <a:t>Application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60"/>
              <a:t> </a:t>
            </a:r>
            <a:r>
              <a:rPr dirty="0"/>
              <a:t>specific</a:t>
            </a:r>
            <a:r>
              <a:rPr dirty="0" spc="-45"/>
              <a:t> </a:t>
            </a:r>
            <a:r>
              <a:rPr dirty="0"/>
              <a:t>access</a:t>
            </a:r>
            <a:r>
              <a:rPr dirty="0" spc="-35"/>
              <a:t> </a:t>
            </a:r>
            <a:r>
              <a:rPr dirty="0" spc="-10"/>
              <a:t>policies </a:t>
            </a:r>
            <a:r>
              <a:rPr dirty="0"/>
              <a:t>using</a:t>
            </a:r>
            <a:r>
              <a:rPr dirty="0" spc="-65"/>
              <a:t> </a:t>
            </a:r>
            <a:r>
              <a:rPr dirty="0"/>
              <a:t>Zscaler</a:t>
            </a:r>
            <a:r>
              <a:rPr dirty="0" spc="-60"/>
              <a:t> </a:t>
            </a:r>
            <a:r>
              <a:rPr dirty="0"/>
              <a:t>Private</a:t>
            </a:r>
            <a:r>
              <a:rPr dirty="0" spc="-55"/>
              <a:t> </a:t>
            </a:r>
            <a:r>
              <a:rPr dirty="0" spc="-10"/>
              <a:t>Access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2172" y="889761"/>
            <a:ext cx="5448300" cy="4942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Project</a:t>
            </a:r>
            <a:r>
              <a:rPr dirty="0" sz="1400" spc="-7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Title:</a:t>
            </a:r>
            <a:endParaRPr sz="1400">
              <a:latin typeface="Times New Roman"/>
              <a:cs typeface="Times New Roman"/>
            </a:endParaRPr>
          </a:p>
          <a:p>
            <a:pPr marL="683260">
              <a:lnSpc>
                <a:spcPct val="100000"/>
              </a:lnSpc>
              <a:spcBef>
                <a:spcPts val="1155"/>
              </a:spcBef>
            </a:pP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Program: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Mudhalvan</a:t>
            </a: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Times New Roman"/>
                <a:cs typeface="Times New Roman"/>
              </a:rPr>
              <a:t>Course</a:t>
            </a:r>
            <a:r>
              <a:rPr dirty="0" sz="1400" spc="3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Team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Members:</a:t>
            </a: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1150"/>
              </a:spcBef>
            </a:pP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Arjun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2328c0226</a:t>
            </a:r>
            <a:endParaRPr sz="1400">
              <a:latin typeface="Times New Roman"/>
              <a:cs typeface="Times New Roman"/>
            </a:endParaRPr>
          </a:p>
          <a:p>
            <a:pPr marL="192405" marR="2091689">
              <a:lnSpc>
                <a:spcPts val="2860"/>
              </a:lnSpc>
              <a:spcBef>
                <a:spcPts val="265"/>
              </a:spcBef>
            </a:pP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Aththin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Ameena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2328c0227 </a:t>
            </a: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Pavithra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2328c0228 </a:t>
            </a: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4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Thanushree</a:t>
            </a:r>
            <a:r>
              <a:rPr dirty="0" sz="1400">
                <a:latin typeface="Times New Roman"/>
                <a:cs typeface="Times New Roman"/>
              </a:rPr>
              <a:t> &amp;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2328c0229</a:t>
            </a: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880"/>
              </a:spcBef>
            </a:pP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5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-</a:t>
            </a:r>
            <a:r>
              <a:rPr dirty="0" sz="1400">
                <a:latin typeface="Times New Roman"/>
                <a:cs typeface="Times New Roman"/>
              </a:rPr>
              <a:t>Srimathi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2328c0001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Institution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Cheran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Science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College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5957061"/>
            <a:ext cx="485140" cy="6007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Guide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spc="-20" b="1">
                <a:latin typeface="Times New Roman"/>
                <a:cs typeface="Times New Roman"/>
              </a:rPr>
              <a:t>Date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48097" y="5957061"/>
            <a:ext cx="1214120" cy="6007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:</a:t>
            </a:r>
            <a:r>
              <a:rPr dirty="0" sz="1400" spc="-10">
                <a:latin typeface="Times New Roman"/>
                <a:cs typeface="Times New Roman"/>
              </a:rPr>
              <a:t>Mrs.M.Jeevitha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spc="-10" b="1">
                <a:latin typeface="Times New Roman"/>
                <a:cs typeface="Times New Roman"/>
              </a:rPr>
              <a:t>:</a:t>
            </a:r>
            <a:r>
              <a:rPr dirty="0" sz="1400" spc="-10">
                <a:latin typeface="Times New Roman"/>
                <a:cs typeface="Times New Roman"/>
              </a:rPr>
              <a:t>09.03.2026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972175" cy="7927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Abstract: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rapid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adoption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3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computing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</a:t>
            </a:r>
            <a:r>
              <a:rPr dirty="0" sz="1400" spc="3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environments,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face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increasing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challenges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securing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while </a:t>
            </a:r>
            <a:r>
              <a:rPr dirty="0" sz="1400">
                <a:latin typeface="Times New Roman"/>
                <a:cs typeface="Times New Roman"/>
              </a:rPr>
              <a:t>ensuring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seamless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models,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VPN-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often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broad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connectivity,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increase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lateral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movement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network.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address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challenges,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frameworks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adopt a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 approach,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where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3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granted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identity,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 </a:t>
            </a:r>
            <a:r>
              <a:rPr dirty="0" sz="1400">
                <a:latin typeface="Times New Roman"/>
                <a:cs typeface="Times New Roman"/>
              </a:rPr>
              <a:t>posture,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policies.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(ZPA)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cloud-</a:t>
            </a:r>
            <a:r>
              <a:rPr dirty="0" sz="1400" spc="-10">
                <a:latin typeface="Times New Roman"/>
                <a:cs typeface="Times New Roman"/>
              </a:rPr>
              <a:t>based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(ZTNA)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solution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secure,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application-level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internet.</a:t>
            </a:r>
            <a:endParaRPr sz="1400">
              <a:latin typeface="Times New Roman"/>
              <a:cs typeface="Times New Roman"/>
            </a:endParaRPr>
          </a:p>
          <a:p>
            <a:pPr algn="just" marL="12700" marR="5715">
              <a:lnSpc>
                <a:spcPct val="110300"/>
              </a:lnSpc>
              <a:spcBef>
                <a:spcPts val="1005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focuses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implementing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using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enterprise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security.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objective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design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configure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fine-grained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use,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rather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4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4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leveraging</a:t>
            </a:r>
            <a:r>
              <a:rPr dirty="0" sz="1400" spc="4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identity-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4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authentication,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4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enforcement,</a:t>
            </a:r>
            <a:r>
              <a:rPr dirty="0" sz="1400" spc="75">
                <a:latin typeface="Times New Roman"/>
                <a:cs typeface="Times New Roman"/>
              </a:rPr>
              <a:t> 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segmentation,</a:t>
            </a:r>
            <a:r>
              <a:rPr dirty="0" sz="1400" spc="4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4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receives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least-</a:t>
            </a:r>
            <a:r>
              <a:rPr dirty="0" sz="1400">
                <a:latin typeface="Times New Roman"/>
                <a:cs typeface="Times New Roman"/>
              </a:rPr>
              <a:t>privileged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enterprise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 algn="just" marL="12700" marR="13335">
              <a:lnSpc>
                <a:spcPct val="1103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5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14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architecture</a:t>
            </a:r>
            <a:r>
              <a:rPr dirty="0" sz="1400" spc="16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involves</a:t>
            </a:r>
            <a:r>
              <a:rPr dirty="0" sz="1400" spc="1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integrating</a:t>
            </a:r>
            <a:r>
              <a:rPr dirty="0" sz="1400" spc="13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14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14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enterprise</a:t>
            </a:r>
            <a:r>
              <a:rPr dirty="0" sz="1400" spc="165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identity </a:t>
            </a:r>
            <a:r>
              <a:rPr dirty="0" sz="1400">
                <a:latin typeface="Times New Roman"/>
                <a:cs typeface="Times New Roman"/>
              </a:rPr>
              <a:t>providers,</a:t>
            </a:r>
            <a:r>
              <a:rPr dirty="0" sz="1400" spc="2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24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connectors,</a:t>
            </a:r>
            <a:r>
              <a:rPr dirty="0" sz="1400" spc="26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7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25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26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54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create</a:t>
            </a:r>
            <a:r>
              <a:rPr dirty="0" sz="1400" spc="26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50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secure </a:t>
            </a:r>
            <a:r>
              <a:rPr dirty="0" sz="1400">
                <a:latin typeface="Times New Roman"/>
                <a:cs typeface="Times New Roman"/>
              </a:rPr>
              <a:t>communication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path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between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 internal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segments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defined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administrative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portal,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enabling </a:t>
            </a:r>
            <a:r>
              <a:rPr dirty="0" sz="1400">
                <a:latin typeface="Times New Roman"/>
                <a:cs typeface="Times New Roman"/>
              </a:rPr>
              <a:t>administrators</a:t>
            </a:r>
            <a:r>
              <a:rPr dirty="0" sz="1400" spc="11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14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10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2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114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114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roles,</a:t>
            </a:r>
            <a:r>
              <a:rPr dirty="0" sz="1400" spc="12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departments,</a:t>
            </a:r>
            <a:r>
              <a:rPr dirty="0" sz="1400" spc="12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20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requirements.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3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minimizes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surfaces,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prevents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enhances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visibility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usage.</a:t>
            </a:r>
            <a:endParaRPr sz="1400">
              <a:latin typeface="Times New Roman"/>
              <a:cs typeface="Times New Roman"/>
            </a:endParaRPr>
          </a:p>
          <a:p>
            <a:pPr algn="just" marL="12700" marR="9525">
              <a:lnSpc>
                <a:spcPct val="110400"/>
              </a:lnSpc>
              <a:spcBef>
                <a:spcPts val="100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demonstrates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replace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VPN </a:t>
            </a:r>
            <a:r>
              <a:rPr dirty="0" sz="1400">
                <a:latin typeface="Times New Roman"/>
                <a:cs typeface="Times New Roman"/>
              </a:rPr>
              <a:t>solutions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both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scalability.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Key </a:t>
            </a:r>
            <a:r>
              <a:rPr dirty="0" sz="1400">
                <a:latin typeface="Times New Roman"/>
                <a:cs typeface="Times New Roman"/>
              </a:rPr>
              <a:t>features</a:t>
            </a:r>
            <a:r>
              <a:rPr dirty="0" sz="1400" spc="4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4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</a:t>
            </a:r>
            <a:r>
              <a:rPr dirty="0" sz="1400" spc="4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4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segmentation,</a:t>
            </a:r>
            <a:r>
              <a:rPr dirty="0" sz="1400" spc="4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policy-</a:t>
            </a:r>
            <a:r>
              <a:rPr dirty="0" sz="1400" spc="-10">
                <a:latin typeface="Times New Roman"/>
                <a:cs typeface="Times New Roman"/>
              </a:rPr>
              <a:t>based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control,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encrypted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connections,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centralized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platform.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evaluation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69000" cy="769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5240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significantly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-10">
                <a:latin typeface="Times New Roman"/>
                <a:cs typeface="Times New Roman"/>
              </a:rPr>
              <a:t> maintaining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seamless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users.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400"/>
              </a:lnSpc>
              <a:spcBef>
                <a:spcPts val="100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conclusion,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highlights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effectiveness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using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3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protecting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enterprise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applications.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implementing application-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policies,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strengthen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posture,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exposure,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environments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resources.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Use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Case</a:t>
            </a:r>
            <a:r>
              <a:rPr dirty="0" sz="1600" spc="-10" b="1">
                <a:latin typeface="Times New Roman"/>
                <a:cs typeface="Times New Roman"/>
              </a:rPr>
              <a:t> Scenarios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1.Third-</a:t>
            </a:r>
            <a:r>
              <a:rPr dirty="0" sz="1400" b="1">
                <a:latin typeface="Times New Roman"/>
                <a:cs typeface="Times New Roman"/>
              </a:rPr>
              <a:t>Party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Vendor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(Jit/Contractor)</a:t>
            </a:r>
            <a:endParaRPr sz="1400">
              <a:latin typeface="Times New Roman"/>
              <a:cs typeface="Times New Roman"/>
            </a:endParaRPr>
          </a:p>
          <a:p>
            <a:pPr marL="283845" marR="110489">
              <a:lnSpc>
                <a:spcPct val="1100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scenario, you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contractor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Jira </a:t>
            </a:r>
            <a:r>
              <a:rPr dirty="0" sz="1400">
                <a:latin typeface="Times New Roman"/>
                <a:cs typeface="Times New Roman"/>
              </a:rPr>
              <a:t>instance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limited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time.</a:t>
            </a:r>
            <a:endParaRPr sz="1400">
              <a:latin typeface="Times New Roman"/>
              <a:cs typeface="Times New Roman"/>
            </a:endParaRPr>
          </a:p>
          <a:p>
            <a:pPr algn="just" marL="643890" marR="10795" indent="-9525">
              <a:lnSpc>
                <a:spcPct val="111400"/>
              </a:lnSpc>
              <a:spcBef>
                <a:spcPts val="965"/>
              </a:spcBef>
              <a:buSzPct val="92857"/>
              <a:buChar char="•"/>
              <a:tabLst>
                <a:tab pos="704215" algn="l"/>
              </a:tabLst>
            </a:pP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Logic: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granted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group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"Contractors"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"Staging-Web-</a:t>
            </a:r>
            <a:r>
              <a:rPr dirty="0" sz="1400" spc="-20">
                <a:latin typeface="Times New Roman"/>
                <a:cs typeface="Times New Roman"/>
              </a:rPr>
              <a:t>01."</a:t>
            </a:r>
            <a:endParaRPr sz="1400">
              <a:latin typeface="Times New Roman"/>
              <a:cs typeface="Times New Roman"/>
            </a:endParaRPr>
          </a:p>
          <a:p>
            <a:pPr algn="just" marL="643890" marR="10160" indent="-9525">
              <a:lnSpc>
                <a:spcPct val="110800"/>
              </a:lnSpc>
              <a:spcBef>
                <a:spcPts val="969"/>
              </a:spcBef>
              <a:buSzPct val="92857"/>
              <a:buChar char="•"/>
              <a:tabLst>
                <a:tab pos="704215" algn="l"/>
              </a:tabLst>
            </a:pP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Control: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 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(e.g., only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TCP </a:t>
            </a:r>
            <a:r>
              <a:rPr dirty="0" sz="1400">
                <a:latin typeface="Times New Roman"/>
                <a:cs typeface="Times New Roman"/>
              </a:rPr>
              <a:t>443)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Timeout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session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expires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8 </a:t>
            </a:r>
            <a:r>
              <a:rPr dirty="0" sz="1400">
                <a:latin typeface="Times New Roman"/>
                <a:cs typeface="Times New Roman"/>
              </a:rPr>
              <a:t>hours,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re-authentication.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7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2.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Secure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DevOps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&amp;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Server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Management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(SSH/RDP)</a:t>
            </a:r>
            <a:endParaRPr sz="1400">
              <a:latin typeface="Times New Roman"/>
              <a:cs typeface="Times New Roman"/>
            </a:endParaRPr>
          </a:p>
          <a:p>
            <a:pPr marL="283845" marR="5715">
              <a:lnSpc>
                <a:spcPct val="110200"/>
              </a:lnSpc>
              <a:spcBef>
                <a:spcPts val="955"/>
              </a:spcBef>
            </a:pPr>
            <a:r>
              <a:rPr dirty="0" sz="1400">
                <a:latin typeface="Times New Roman"/>
                <a:cs typeface="Times New Roman"/>
              </a:rPr>
              <a:t>Instead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opening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RDP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SSH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ports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entire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subnet,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can </a:t>
            </a:r>
            <a:r>
              <a:rPr dirty="0" sz="1400">
                <a:latin typeface="Times New Roman"/>
                <a:cs typeface="Times New Roman"/>
              </a:rPr>
              <a:t>create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target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administrative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protocols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servers.</a:t>
            </a:r>
            <a:endParaRPr sz="1400">
              <a:latin typeface="Times New Roman"/>
              <a:cs typeface="Times New Roman"/>
            </a:endParaRPr>
          </a:p>
          <a:p>
            <a:pPr marL="643890" marR="350520" indent="-9525">
              <a:lnSpc>
                <a:spcPct val="110000"/>
              </a:lnSpc>
              <a:spcBef>
                <a:spcPts val="1010"/>
              </a:spcBef>
              <a:buSzPct val="92857"/>
              <a:buChar char="•"/>
              <a:tabLst>
                <a:tab pos="704215" algn="l"/>
              </a:tabLst>
            </a:pP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members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Admin"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group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initiate</a:t>
            </a:r>
            <a:r>
              <a:rPr dirty="0" sz="1400" spc="-25">
                <a:latin typeface="Times New Roman"/>
                <a:cs typeface="Times New Roman"/>
              </a:rPr>
              <a:t> an </a:t>
            </a:r>
            <a:r>
              <a:rPr dirty="0" sz="1400">
                <a:latin typeface="Times New Roman"/>
                <a:cs typeface="Times New Roman"/>
              </a:rPr>
              <a:t>SSH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session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"Production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Database"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segment.</a:t>
            </a:r>
            <a:endParaRPr sz="1400">
              <a:latin typeface="Times New Roman"/>
              <a:cs typeface="Times New Roman"/>
            </a:endParaRPr>
          </a:p>
          <a:p>
            <a:pPr algn="just" marL="643890" marR="78105" indent="-9525">
              <a:lnSpc>
                <a:spcPct val="110700"/>
              </a:lnSpc>
              <a:spcBef>
                <a:spcPts val="1000"/>
              </a:spcBef>
              <a:buSzPct val="92857"/>
              <a:buChar char="•"/>
              <a:tabLst>
                <a:tab pos="704215" algn="l"/>
              </a:tabLst>
            </a:pP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AppProtection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inspect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traffic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for </a:t>
            </a:r>
            <a:r>
              <a:rPr dirty="0" sz="1400">
                <a:latin typeface="Times New Roman"/>
                <a:cs typeface="Times New Roman"/>
              </a:rPr>
              <a:t>command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injection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utilize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(PRA)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provide browser-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client.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2172" y="889761"/>
            <a:ext cx="6144260" cy="8027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3.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Posture-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(Managed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vs.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Unmanaged)</a:t>
            </a:r>
            <a:endParaRPr sz="1400">
              <a:latin typeface="Times New Roman"/>
              <a:cs typeface="Times New Roman"/>
            </a:endParaRPr>
          </a:p>
          <a:p>
            <a:pPr algn="just" marL="463550" marR="5715">
              <a:lnSpc>
                <a:spcPct val="1101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differentiate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"health"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"ownership"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device.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crucial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preventing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leaks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infected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personal machines.</a:t>
            </a:r>
            <a:endParaRPr sz="1400">
              <a:latin typeface="Times New Roman"/>
              <a:cs typeface="Times New Roman"/>
            </a:endParaRPr>
          </a:p>
          <a:p>
            <a:pPr marL="878205" marR="7620" indent="-228600">
              <a:lnSpc>
                <a:spcPct val="110000"/>
              </a:lnSpc>
              <a:spcBef>
                <a:spcPts val="1100"/>
              </a:spcBef>
              <a:buFont typeface="Symbol"/>
              <a:buChar char=""/>
              <a:tabLst>
                <a:tab pos="878205" algn="l"/>
              </a:tabLst>
            </a:pP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Logic: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*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Managed</a:t>
            </a:r>
            <a:r>
              <a:rPr dirty="0" sz="1400" spc="4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Laptop: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"Internal</a:t>
            </a:r>
            <a:r>
              <a:rPr dirty="0" sz="1400" spc="37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ERP </a:t>
            </a:r>
            <a:r>
              <a:rPr dirty="0" sz="1400" spc="-10">
                <a:latin typeface="Times New Roman"/>
                <a:cs typeface="Times New Roman"/>
              </a:rPr>
              <a:t>System."</a:t>
            </a:r>
            <a:endParaRPr sz="1400">
              <a:latin typeface="Times New Roman"/>
              <a:cs typeface="Times New Roman"/>
            </a:endParaRPr>
          </a:p>
          <a:p>
            <a:pPr marL="878205" marR="5080" indent="-228600">
              <a:lnSpc>
                <a:spcPct val="111400"/>
              </a:lnSpc>
              <a:spcBef>
                <a:spcPts val="75"/>
              </a:spcBef>
              <a:buFont typeface="Symbol"/>
              <a:buChar char=""/>
              <a:tabLst>
                <a:tab pos="878205" algn="l"/>
              </a:tabLst>
            </a:pPr>
            <a:r>
              <a:rPr dirty="0" sz="1400">
                <a:latin typeface="Times New Roman"/>
                <a:cs typeface="Times New Roman"/>
              </a:rPr>
              <a:t>Personal/BYOD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Device: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blocked,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redirected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restricted web-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version.</a:t>
            </a:r>
            <a:endParaRPr sz="1400">
              <a:latin typeface="Times New Roman"/>
              <a:cs typeface="Times New Roman"/>
            </a:endParaRPr>
          </a:p>
          <a:p>
            <a:pPr marL="878205" marR="10160" indent="-228600">
              <a:lnSpc>
                <a:spcPct val="110000"/>
              </a:lnSpc>
              <a:spcBef>
                <a:spcPts val="95"/>
              </a:spcBef>
              <a:buFont typeface="Symbol"/>
              <a:buChar char=""/>
              <a:tabLst>
                <a:tab pos="878205" algn="l"/>
              </a:tabLst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Control: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Profile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(e.g.,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firewall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on?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corporate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present?)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tunnel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established.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4.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Geographic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or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Location-</a:t>
            </a:r>
            <a:r>
              <a:rPr dirty="0" sz="1400" b="1">
                <a:latin typeface="Times New Roman"/>
                <a:cs typeface="Times New Roman"/>
              </a:rPr>
              <a:t>Aware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algn="just" marL="463550" marR="5715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company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strict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requirements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(like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GDPR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ITAR),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you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want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certain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accessed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from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regions.</a:t>
            </a:r>
            <a:endParaRPr sz="1400">
              <a:latin typeface="Times New Roman"/>
              <a:cs typeface="Times New Roman"/>
            </a:endParaRPr>
          </a:p>
          <a:p>
            <a:pPr marL="878205" marR="47625" indent="-228600">
              <a:lnSpc>
                <a:spcPct val="110000"/>
              </a:lnSpc>
              <a:spcBef>
                <a:spcPts val="1105"/>
              </a:spcBef>
              <a:buFont typeface="Symbol"/>
              <a:buChar char=""/>
              <a:tabLst>
                <a:tab pos="878205" algn="l"/>
              </a:tabLst>
            </a:pP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"Sensitive-HR-</a:t>
            </a:r>
            <a:r>
              <a:rPr dirty="0" sz="1400">
                <a:latin typeface="Times New Roman"/>
                <a:cs typeface="Times New Roman"/>
              </a:rPr>
              <a:t>Database"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permitted if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user’s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Country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"United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Kingdom"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"Germany."</a:t>
            </a:r>
            <a:endParaRPr sz="1400">
              <a:latin typeface="Times New Roman"/>
              <a:cs typeface="Times New Roman"/>
            </a:endParaRPr>
          </a:p>
          <a:p>
            <a:pPr marL="878205" marR="17145" indent="-228600">
              <a:lnSpc>
                <a:spcPct val="110800"/>
              </a:lnSpc>
              <a:spcBef>
                <a:spcPts val="85"/>
              </a:spcBef>
              <a:buFont typeface="Symbol"/>
              <a:buChar char=""/>
              <a:tabLst>
                <a:tab pos="878205" algn="l"/>
              </a:tabLst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attempts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country,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Broker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(App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Connector)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deny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connection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edge,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even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credentials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valid.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Scenario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5. </a:t>
            </a:r>
            <a:r>
              <a:rPr dirty="0" sz="1400" spc="-10" b="1">
                <a:latin typeface="Times New Roman"/>
                <a:cs typeface="Times New Roman"/>
              </a:rPr>
              <a:t>Emergency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"Break-</a:t>
            </a:r>
            <a:r>
              <a:rPr dirty="0" sz="1400" b="1">
                <a:latin typeface="Times New Roman"/>
                <a:cs typeface="Times New Roman"/>
              </a:rPr>
              <a:t>Glass"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marL="192405" marR="91440">
              <a:lnSpc>
                <a:spcPct val="110800"/>
              </a:lnSpc>
              <a:spcBef>
                <a:spcPts val="944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localized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outage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incident, you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pre- </a:t>
            </a:r>
            <a:r>
              <a:rPr dirty="0" sz="1400">
                <a:latin typeface="Times New Roman"/>
                <a:cs typeface="Times New Roman"/>
              </a:rPr>
              <a:t>configured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disabled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toggled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provide </a:t>
            </a:r>
            <a:r>
              <a:rPr dirty="0" sz="1400">
                <a:latin typeface="Times New Roman"/>
                <a:cs typeface="Times New Roman"/>
              </a:rPr>
              <a:t>emergency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</a:t>
            </a:r>
            <a:endParaRPr sz="1400">
              <a:latin typeface="Times New Roman"/>
              <a:cs typeface="Times New Roman"/>
            </a:endParaRPr>
          </a:p>
          <a:p>
            <a:pPr marL="192405" marR="161290" indent="457200">
              <a:lnSpc>
                <a:spcPct val="110800"/>
              </a:lnSpc>
              <a:spcBef>
                <a:spcPts val="969"/>
              </a:spcBef>
              <a:buChar char="•"/>
              <a:tabLst>
                <a:tab pos="649605" algn="l"/>
              </a:tabLst>
            </a:pP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High-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"Core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Infrastructure"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triggered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only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10">
                <a:latin typeface="Times New Roman"/>
                <a:cs typeface="Times New Roman"/>
              </a:rPr>
              <a:t> "Emergency-Response"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SAML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attribute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present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user's token.</a:t>
            </a:r>
            <a:endParaRPr sz="1400">
              <a:latin typeface="Times New Roman"/>
              <a:cs typeface="Times New Roman"/>
            </a:endParaRPr>
          </a:p>
          <a:p>
            <a:pPr marL="192405" marR="141605" indent="457200">
              <a:lnSpc>
                <a:spcPct val="110000"/>
              </a:lnSpc>
              <a:spcBef>
                <a:spcPts val="1010"/>
              </a:spcBef>
              <a:buChar char="•"/>
              <a:tabLst>
                <a:tab pos="649605" algn="l"/>
              </a:tabLst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ensure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even </a:t>
            </a:r>
            <a:r>
              <a:rPr dirty="0" sz="1400">
                <a:latin typeface="Times New Roman"/>
                <a:cs typeface="Times New Roman"/>
              </a:rPr>
              <a:t>"Admins"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don't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permanent,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standing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 spc="-10">
                <a:latin typeface="Times New Roman"/>
                <a:cs typeface="Times New Roman"/>
              </a:rPr>
              <a:t>environment.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4957445" cy="1685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8862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Times New Roman"/>
                <a:cs typeface="Times New Roman"/>
              </a:rPr>
              <a:t>Title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project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1155"/>
              </a:spcBef>
            </a:pP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1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6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646170" y="3423284"/>
            <a:ext cx="143129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latin typeface="Times New Roman"/>
                <a:cs typeface="Times New Roman"/>
              </a:rPr>
              <a:t>Description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75859" y="3423284"/>
            <a:ext cx="77470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>
                <a:latin typeface="Times New Roman"/>
                <a:cs typeface="Times New Roman"/>
              </a:rPr>
              <a:t>Mitigation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3060572"/>
            <a:ext cx="2445385" cy="835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1005"/>
              </a:spcBef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Type</a:t>
            </a:r>
            <a:r>
              <a:rPr dirty="0" sz="1400" spc="-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CVE</a:t>
            </a:r>
            <a:r>
              <a:rPr dirty="0" sz="1400" spc="-25">
                <a:latin typeface="Times New Roman"/>
                <a:cs typeface="Times New Roman"/>
              </a:rPr>
              <a:t> ID </a:t>
            </a:r>
            <a:r>
              <a:rPr dirty="0" sz="1400" spc="-10">
                <a:latin typeface="Times New Roman"/>
                <a:cs typeface="Times New Roman"/>
              </a:rPr>
              <a:t>Strategy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004" y="3998519"/>
            <a:ext cx="5722620" cy="729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  <a:tabLst>
                <a:tab pos="1384300" algn="l"/>
                <a:tab pos="3213735" algn="l"/>
              </a:tabLst>
            </a:pPr>
            <a:r>
              <a:rPr dirty="0" sz="1400" spc="-10">
                <a:latin typeface="Times New Roman"/>
                <a:cs typeface="Times New Roman"/>
              </a:rPr>
              <a:t>Configuration</a:t>
            </a:r>
            <a:r>
              <a:rPr dirty="0" sz="1400">
                <a:latin typeface="Times New Roman"/>
                <a:cs typeface="Times New Roman"/>
              </a:rPr>
              <a:t>	Implicit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"Allow</a:t>
            </a:r>
            <a:r>
              <a:rPr dirty="0" sz="1400" spc="-20">
                <a:latin typeface="Times New Roman"/>
                <a:cs typeface="Times New Roman"/>
              </a:rPr>
              <a:t> All"</a:t>
            </a:r>
            <a:r>
              <a:rPr dirty="0" sz="1400">
                <a:latin typeface="Times New Roman"/>
                <a:cs typeface="Times New Roman"/>
              </a:rPr>
              <a:t>	Policy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order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broad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reaching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blocks.</a:t>
            </a:r>
            <a:r>
              <a:rPr dirty="0" sz="1400" spc="-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Lateral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movement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network.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Top- </a:t>
            </a:r>
            <a:r>
              <a:rPr dirty="0" sz="1400">
                <a:latin typeface="Times New Roman"/>
                <a:cs typeface="Times New Roman"/>
              </a:rPr>
              <a:t>Down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logic;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rule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"Implicit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Deny."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2004" y="4830876"/>
            <a:ext cx="3830954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dirty="0" sz="1400" spc="-10">
                <a:latin typeface="Times New Roman"/>
                <a:cs typeface="Times New Roman"/>
              </a:rPr>
              <a:t>Configuration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Over-</a:t>
            </a:r>
            <a:r>
              <a:rPr dirty="0" sz="1400">
                <a:latin typeface="Times New Roman"/>
                <a:cs typeface="Times New Roman"/>
              </a:rPr>
              <a:t>Privileged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Service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Accounts </a:t>
            </a:r>
            <a:r>
              <a:rPr dirty="0" sz="1400">
                <a:latin typeface="Times New Roman"/>
                <a:cs typeface="Times New Roman"/>
              </a:rPr>
              <a:t>groups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(e.g.,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"All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Staff")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assigned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18278" y="4830876"/>
            <a:ext cx="1829435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Shared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accounts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broad </a:t>
            </a:r>
            <a:r>
              <a:rPr dirty="0" sz="1400" spc="-10">
                <a:latin typeface="Times New Roman"/>
                <a:cs typeface="Times New Roman"/>
              </a:rPr>
              <a:t>Unauthorized </a:t>
            </a:r>
            <a:r>
              <a:rPr dirty="0" sz="1400">
                <a:latin typeface="Times New Roman"/>
                <a:cs typeface="Times New Roman"/>
              </a:rPr>
              <a:t>data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02004" y="5300269"/>
            <a:ext cx="5918835" cy="322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84810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standard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users.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Groups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Segments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(Least Privilege).</a:t>
            </a:r>
            <a:endParaRPr sz="1400">
              <a:latin typeface="Times New Roman"/>
              <a:cs typeface="Times New Roman"/>
            </a:endParaRPr>
          </a:p>
          <a:p>
            <a:pPr marL="12700" marR="306070">
              <a:lnSpc>
                <a:spcPct val="110000"/>
              </a:lnSpc>
              <a:spcBef>
                <a:spcPts val="1010"/>
              </a:spcBef>
              <a:tabLst>
                <a:tab pos="927100" algn="l"/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(ZCC)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0">
                <a:latin typeface="Times New Roman"/>
                <a:cs typeface="Times New Roman"/>
              </a:rPr>
              <a:t>CVE-</a:t>
            </a:r>
            <a:r>
              <a:rPr dirty="0" sz="1400" spc="-10">
                <a:latin typeface="Times New Roman"/>
                <a:cs typeface="Times New Roman"/>
              </a:rPr>
              <a:t>2025-</a:t>
            </a:r>
            <a:r>
              <a:rPr dirty="0" sz="1400">
                <a:latin typeface="Times New Roman"/>
                <a:cs typeface="Times New Roman"/>
              </a:rPr>
              <a:t>54983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Health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Client </a:t>
            </a:r>
            <a:r>
              <a:rPr dirty="0" sz="1400">
                <a:latin typeface="Times New Roman"/>
                <a:cs typeface="Times New Roman"/>
              </a:rPr>
              <a:t>Connector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(Windows)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traffic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bypass.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Traffic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ZCC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forwarding controls.</a:t>
            </a:r>
            <a:r>
              <a:rPr dirty="0" sz="1400">
                <a:latin typeface="Times New Roman"/>
                <a:cs typeface="Times New Roman"/>
              </a:rPr>
              <a:t>	Upgrade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ZCC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versions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4.6.0.216+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4.7.0.47+.</a:t>
            </a:r>
            <a:endParaRPr sz="1400">
              <a:latin typeface="Times New Roman"/>
              <a:cs typeface="Times New Roman"/>
            </a:endParaRPr>
          </a:p>
          <a:p>
            <a:pPr marL="12700" marR="113664">
              <a:lnSpc>
                <a:spcPct val="110000"/>
              </a:lnSpc>
              <a:spcBef>
                <a:spcPts val="1010"/>
              </a:spcBef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(ZCC)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0">
                <a:latin typeface="Times New Roman"/>
                <a:cs typeface="Times New Roman"/>
              </a:rPr>
              <a:t>CVE-</a:t>
            </a:r>
            <a:r>
              <a:rPr dirty="0" sz="1400" spc="-10">
                <a:latin typeface="Times New Roman"/>
                <a:cs typeface="Times New Roman"/>
              </a:rPr>
              <a:t>2024-</a:t>
            </a:r>
            <a:r>
              <a:rPr dirty="0" sz="1400">
                <a:latin typeface="Times New Roman"/>
                <a:cs typeface="Times New Roman"/>
              </a:rPr>
              <a:t>31127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library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ZCC </a:t>
            </a:r>
            <a:r>
              <a:rPr dirty="0" sz="1400">
                <a:latin typeface="Times New Roman"/>
                <a:cs typeface="Times New Roman"/>
              </a:rPr>
              <a:t>(macOS)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escalation.</a:t>
            </a:r>
            <a:r>
              <a:rPr dirty="0" sz="1400" spc="45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Local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root/admin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privileges.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imes New Roman"/>
                <a:cs typeface="Times New Roman"/>
              </a:rPr>
              <a:t>Upgrade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macOS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ZCC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version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4.2.0.241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later.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005"/>
              </a:spcBef>
              <a:tabLst>
                <a:tab pos="927100" algn="l"/>
                <a:tab pos="1384300" algn="l"/>
              </a:tabLst>
            </a:pPr>
            <a:r>
              <a:rPr dirty="0" sz="1400" spc="-10">
                <a:latin typeface="Times New Roman"/>
                <a:cs typeface="Times New Roman"/>
              </a:rPr>
              <a:t>Configuration</a:t>
            </a:r>
            <a:r>
              <a:rPr dirty="0" sz="1400">
                <a:latin typeface="Times New Roman"/>
                <a:cs typeface="Times New Roman"/>
              </a:rPr>
              <a:t>	Missing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4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unmanaged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"jailbroken"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health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checks.</a:t>
            </a:r>
            <a:r>
              <a:rPr dirty="0" sz="1400" spc="8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Malware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entry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infected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personal devices.</a:t>
            </a:r>
            <a:r>
              <a:rPr dirty="0" sz="1400">
                <a:latin typeface="Times New Roman"/>
                <a:cs typeface="Times New Roman"/>
              </a:rPr>
              <a:t>	Mandatory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Profiles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(e.g.,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AV,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Encryption, Certs).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137350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teammates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41552" y="1640458"/>
          <a:ext cx="6168390" cy="2284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460"/>
                <a:gridCol w="1521460"/>
                <a:gridCol w="1521459"/>
                <a:gridCol w="1520825"/>
              </a:tblGrid>
              <a:tr h="210185">
                <a:tc>
                  <a:txBody>
                    <a:bodyPr/>
                    <a:lstStyle/>
                    <a:p>
                      <a:pPr marL="69850">
                        <a:lnSpc>
                          <a:spcPts val="1555"/>
                        </a:lnSpc>
                      </a:pP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55"/>
                        </a:lnSpc>
                      </a:pP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55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55"/>
                        </a:lnSpc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dirty="0" sz="14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Number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Arjun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0226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Cheran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Arts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8098095504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Aththin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Ameena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0226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Cheran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Arts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9943555587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3.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Pavithra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0226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Cheran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Arts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7339291464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69850">
                        <a:lnSpc>
                          <a:spcPts val="1625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4.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Thanushree.v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0226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Cheran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Arts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9150840374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5.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Srimathi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0226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Cheran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Arts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7200602949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902004" y="4271009"/>
            <a:ext cx="5944235" cy="4542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REPORT: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1.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Software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&amp;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Component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Vulnerabilities</a:t>
            </a:r>
            <a:endParaRPr sz="1400">
              <a:latin typeface="Times New Roman"/>
              <a:cs typeface="Times New Roman"/>
            </a:endParaRPr>
          </a:p>
          <a:p>
            <a:pPr marL="12700" marR="105410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affect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technical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components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ecosystem,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such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Client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(ZCC)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Service.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400">
                <a:latin typeface="Times New Roman"/>
                <a:cs typeface="Times New Roman"/>
              </a:rPr>
              <a:t>OS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Injection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Client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Connector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Char char="•"/>
              <a:tabLst>
                <a:tab pos="469900" algn="l"/>
              </a:tabLst>
            </a:pPr>
            <a:r>
              <a:rPr dirty="0" sz="1400" spc="-10">
                <a:latin typeface="Times New Roman"/>
                <a:cs typeface="Times New Roman"/>
              </a:rPr>
              <a:t>Vulnerability/CVE: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CVE-</a:t>
            </a:r>
            <a:r>
              <a:rPr dirty="0" sz="1400" spc="-10">
                <a:latin typeface="Times New Roman"/>
                <a:cs typeface="Times New Roman"/>
              </a:rPr>
              <a:t>2024-</a:t>
            </a:r>
            <a:r>
              <a:rPr dirty="0" sz="1400" spc="-20">
                <a:latin typeface="Times New Roman"/>
                <a:cs typeface="Times New Roman"/>
              </a:rPr>
              <a:t>23483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CWE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CWE-78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(OS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Injection)</a:t>
            </a:r>
            <a:endParaRPr sz="1400">
              <a:latin typeface="Times New Roman"/>
              <a:cs typeface="Times New Roman"/>
            </a:endParaRPr>
          </a:p>
          <a:p>
            <a:pPr marL="12700" marR="118745" indent="457200">
              <a:lnSpc>
                <a:spcPct val="110000"/>
              </a:lnSpc>
              <a:spcBef>
                <a:spcPts val="1010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Description: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input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flaw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Client </a:t>
            </a:r>
            <a:r>
              <a:rPr dirty="0" sz="1400">
                <a:latin typeface="Times New Roman"/>
                <a:cs typeface="Times New Roman"/>
              </a:rPr>
              <a:t>Connector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macOS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inject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execute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arbitrary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OS </a:t>
            </a:r>
            <a:r>
              <a:rPr dirty="0" sz="1400">
                <a:latin typeface="Times New Roman"/>
                <a:cs typeface="Times New Roman"/>
              </a:rPr>
              <a:t>commands.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specifically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crafted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inputs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adequate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sanitization.</a:t>
            </a:r>
            <a:endParaRPr sz="1400"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10000"/>
              </a:lnSpc>
              <a:spcBef>
                <a:spcPts val="1010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user's </a:t>
            </a:r>
            <a:r>
              <a:rPr dirty="0" sz="1400">
                <a:latin typeface="Times New Roman"/>
                <a:cs typeface="Times New Roman"/>
              </a:rPr>
              <a:t>endpoint.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ZCC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"gateway"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compromised </a:t>
            </a:r>
            <a:r>
              <a:rPr dirty="0" sz="1400">
                <a:latin typeface="Times New Roman"/>
                <a:cs typeface="Times New Roman"/>
              </a:rPr>
              <a:t>agent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intercept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corporate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6713"/>
            <a:ext cx="5955030" cy="8259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Signature </a:t>
            </a:r>
            <a:r>
              <a:rPr dirty="0" sz="1400" spc="-20">
                <a:latin typeface="Times New Roman"/>
                <a:cs typeface="Times New Roman"/>
              </a:rPr>
              <a:t>Flaw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Char char="•"/>
              <a:tabLst>
                <a:tab pos="469900" algn="l"/>
              </a:tabLst>
            </a:pPr>
            <a:r>
              <a:rPr dirty="0" sz="1400" spc="-10">
                <a:latin typeface="Times New Roman"/>
                <a:cs typeface="Times New Roman"/>
              </a:rPr>
              <a:t>Vulnerability/CVE: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CVE-</a:t>
            </a:r>
            <a:r>
              <a:rPr dirty="0" sz="1400" spc="-10">
                <a:latin typeface="Times New Roman"/>
                <a:cs typeface="Times New Roman"/>
              </a:rPr>
              <a:t>2025-</a:t>
            </a:r>
            <a:r>
              <a:rPr dirty="0" sz="1400" spc="-20">
                <a:latin typeface="Times New Roman"/>
                <a:cs typeface="Times New Roman"/>
              </a:rPr>
              <a:t>54982</a:t>
            </a:r>
            <a:endParaRPr sz="1400">
              <a:latin typeface="Times New Roman"/>
              <a:cs typeface="Times New Roman"/>
            </a:endParaRPr>
          </a:p>
          <a:p>
            <a:pPr marL="12700" marR="645795" indent="457200">
              <a:lnSpc>
                <a:spcPct val="110000"/>
              </a:lnSpc>
              <a:spcBef>
                <a:spcPts val="101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CWE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CWE-347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(Improper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Cryptographic Signature)</a:t>
            </a:r>
            <a:endParaRPr sz="1400">
              <a:latin typeface="Times New Roman"/>
              <a:cs typeface="Times New Roman"/>
            </a:endParaRPr>
          </a:p>
          <a:p>
            <a:pPr marL="12700" marR="181610" indent="457200">
              <a:lnSpc>
                <a:spcPct val="110100"/>
              </a:lnSpc>
              <a:spcBef>
                <a:spcPts val="100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Description: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server-</a:t>
            </a:r>
            <a:r>
              <a:rPr dirty="0" sz="1400">
                <a:latin typeface="Times New Roman"/>
                <a:cs typeface="Times New Roman"/>
              </a:rPr>
              <a:t>side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Zscaler’s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SAML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 mechanism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10">
                <a:latin typeface="Times New Roman"/>
                <a:cs typeface="Times New Roman"/>
              </a:rPr>
              <a:t> cryptographic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signatures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were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-10">
                <a:latin typeface="Times New Roman"/>
                <a:cs typeface="Times New Roman"/>
              </a:rPr>
              <a:t> verified.</a:t>
            </a:r>
            <a:endParaRPr sz="1400">
              <a:latin typeface="Times New Roman"/>
              <a:cs typeface="Times New Roman"/>
            </a:endParaRPr>
          </a:p>
          <a:p>
            <a:pPr marL="12700" marR="226060" indent="457200">
              <a:lnSpc>
                <a:spcPct val="110100"/>
              </a:lnSpc>
              <a:spcBef>
                <a:spcPts val="100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forge authentication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tokens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assume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sensitive internal </a:t>
            </a:r>
            <a:r>
              <a:rPr dirty="0" sz="1400">
                <a:latin typeface="Times New Roman"/>
                <a:cs typeface="Times New Roman"/>
              </a:rPr>
              <a:t>segments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production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databases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portals.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>
                <a:latin typeface="Times New Roman"/>
                <a:cs typeface="Times New Roman"/>
              </a:rPr>
              <a:t>Local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Escalation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(Mac)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Char char="•"/>
              <a:tabLst>
                <a:tab pos="469900" algn="l"/>
              </a:tabLst>
            </a:pPr>
            <a:r>
              <a:rPr dirty="0" sz="1400" spc="-10">
                <a:latin typeface="Times New Roman"/>
                <a:cs typeface="Times New Roman"/>
              </a:rPr>
              <a:t>Vulnerability/CVE: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CVE-</a:t>
            </a:r>
            <a:r>
              <a:rPr dirty="0" sz="1400" spc="-10">
                <a:latin typeface="Times New Roman"/>
                <a:cs typeface="Times New Roman"/>
              </a:rPr>
              <a:t>2024-</a:t>
            </a:r>
            <a:r>
              <a:rPr dirty="0" sz="1400" spc="-20">
                <a:latin typeface="Times New Roman"/>
                <a:cs typeface="Times New Roman"/>
              </a:rPr>
              <a:t>31127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5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CWE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CWE-346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(Origin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Error)</a:t>
            </a:r>
            <a:endParaRPr sz="1400">
              <a:latin typeface="Times New Roman"/>
              <a:cs typeface="Times New Roman"/>
            </a:endParaRPr>
          </a:p>
          <a:p>
            <a:pPr marL="12700" marR="29209" indent="457200">
              <a:lnSpc>
                <a:spcPct val="110000"/>
              </a:lnSpc>
              <a:spcBef>
                <a:spcPts val="1010"/>
              </a:spcBef>
              <a:buChar char="•"/>
              <a:tabLst>
                <a:tab pos="469900" algn="l"/>
              </a:tabLst>
            </a:pPr>
            <a:r>
              <a:rPr dirty="0" sz="1400" spc="-10">
                <a:latin typeface="Times New Roman"/>
                <a:cs typeface="Times New Roman"/>
              </a:rPr>
              <a:t>Description: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loaded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libraries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ZCC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(macOS)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load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malicious library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execute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code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elevated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(root)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permissions.</a:t>
            </a:r>
            <a:endParaRPr sz="1400">
              <a:latin typeface="Times New Roman"/>
              <a:cs typeface="Times New Roman"/>
            </a:endParaRPr>
          </a:p>
          <a:p>
            <a:pPr marL="12700" marR="114935" indent="457200">
              <a:lnSpc>
                <a:spcPct val="110700"/>
              </a:lnSpc>
              <a:spcBef>
                <a:spcPts val="994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compromised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local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harvest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credentials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memory,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manipulate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configuration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broader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intended.</a:t>
            </a: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1180"/>
              </a:spcBef>
              <a:buAutoNum type="arabicPeriod" startAt="2"/>
              <a:tabLst>
                <a:tab pos="19177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Configuration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&amp;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Logical </a:t>
            </a:r>
            <a:r>
              <a:rPr dirty="0" sz="1400" spc="-10" b="1">
                <a:latin typeface="Times New Roman"/>
                <a:cs typeface="Times New Roman"/>
              </a:rPr>
              <a:t>Vulnerabilities</a:t>
            </a:r>
            <a:endParaRPr sz="1400">
              <a:latin typeface="Times New Roman"/>
              <a:cs typeface="Times New Roman"/>
            </a:endParaRPr>
          </a:p>
          <a:p>
            <a:pPr marL="12700" marR="561975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arise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implemented.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"perfect"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version,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failure.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>
                <a:latin typeface="Times New Roman"/>
                <a:cs typeface="Times New Roman"/>
              </a:rPr>
              <a:t>Broken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(Implicit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Allow)</a:t>
            </a:r>
            <a:endParaRPr sz="14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spcBef>
                <a:spcPts val="1180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A01:2021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Broken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spcBef>
                <a:spcPts val="117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SANS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CWE-285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(Improper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Authorization)</a:t>
            </a:r>
            <a:endParaRPr sz="1400">
              <a:latin typeface="Times New Roman"/>
              <a:cs typeface="Times New Roman"/>
            </a:endParaRPr>
          </a:p>
          <a:p>
            <a:pPr lvl="1" marL="12700" marR="5080" indent="457200">
              <a:lnSpc>
                <a:spcPct val="111600"/>
              </a:lnSpc>
              <a:spcBef>
                <a:spcPts val="960"/>
              </a:spcBef>
              <a:buChar char="•"/>
              <a:tabLst>
                <a:tab pos="469900" algn="l"/>
              </a:tabLst>
            </a:pPr>
            <a:r>
              <a:rPr dirty="0" sz="1400" spc="-10">
                <a:latin typeface="Times New Roman"/>
                <a:cs typeface="Times New Roman"/>
              </a:rPr>
              <a:t>Description: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Defining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broad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subnets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(e.g.,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10.0.0.0/8) </a:t>
            </a:r>
            <a:r>
              <a:rPr dirty="0" sz="1400">
                <a:latin typeface="Times New Roman"/>
                <a:cs typeface="Times New Roman"/>
              </a:rPr>
              <a:t>instead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FQDNs.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recreates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"flat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network"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tool.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864225" cy="779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700" indent="457200">
              <a:lnSpc>
                <a:spcPct val="110100"/>
              </a:lnSpc>
              <a:spcBef>
                <a:spcPts val="100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Impact: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negates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primary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benefit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single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subnet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compromised,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move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laterally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any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same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range,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widespread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breaches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 spc="-10">
                <a:latin typeface="Times New Roman"/>
                <a:cs typeface="Times New Roman"/>
              </a:rPr>
              <a:t>ransomware.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Misconfiguration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(Policy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Shadowing)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A05:2021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Misconfiguration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80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SANS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CWE-1025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(Comparison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Incorrect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Values)</a:t>
            </a:r>
            <a:endParaRPr sz="1400">
              <a:latin typeface="Times New Roman"/>
              <a:cs typeface="Times New Roman"/>
            </a:endParaRPr>
          </a:p>
          <a:p>
            <a:pPr marL="12700" marR="120014" indent="457200">
              <a:lnSpc>
                <a:spcPct val="110100"/>
              </a:lnSpc>
              <a:spcBef>
                <a:spcPts val="100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Description: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"First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Match"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error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placing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broad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"Allow"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rule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(e.g.,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"Allow All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Web </a:t>
            </a:r>
            <a:r>
              <a:rPr dirty="0" sz="1400">
                <a:latin typeface="Times New Roman"/>
                <a:cs typeface="Times New Roman"/>
              </a:rPr>
              <a:t>Apps")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"shadows"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"Deny"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rule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further down.</a:t>
            </a:r>
            <a:endParaRPr sz="1400">
              <a:latin typeface="Times New Roman"/>
              <a:cs typeface="Times New Roman"/>
            </a:endParaRPr>
          </a:p>
          <a:p>
            <a:pPr marL="12700" marR="360680" indent="457200">
              <a:lnSpc>
                <a:spcPct val="110100"/>
              </a:lnSpc>
              <a:spcBef>
                <a:spcPts val="100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restrictions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(like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blocking </a:t>
            </a:r>
            <a:r>
              <a:rPr dirty="0" sz="1400">
                <a:latin typeface="Times New Roman"/>
                <a:cs typeface="Times New Roman"/>
              </a:rPr>
              <a:t>contractors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app)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never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evaluated,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administrative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oversight.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>
                <a:latin typeface="Times New Roman"/>
                <a:cs typeface="Times New Roman"/>
              </a:rPr>
              <a:t>Failure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Posture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80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A07:2021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 </a:t>
            </a:r>
            <a:r>
              <a:rPr dirty="0" sz="1400" spc="-10">
                <a:latin typeface="Times New Roman"/>
                <a:cs typeface="Times New Roman"/>
              </a:rPr>
              <a:t>Identification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Failures</a:t>
            </a:r>
            <a:endParaRPr sz="1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SANS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CWE-290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(Authentication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Spoofing)</a:t>
            </a:r>
            <a:endParaRPr sz="1400"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10700"/>
              </a:lnSpc>
              <a:spcBef>
                <a:spcPts val="97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Description: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solely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(username/password)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validating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health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(disk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encryption,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firewall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status,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 spc="-10">
                <a:latin typeface="Times New Roman"/>
                <a:cs typeface="Times New Roman"/>
              </a:rPr>
              <a:t>presence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corporate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certificates).</a:t>
            </a:r>
            <a:endParaRPr sz="1400">
              <a:latin typeface="Times New Roman"/>
              <a:cs typeface="Times New Roman"/>
            </a:endParaRPr>
          </a:p>
          <a:p>
            <a:pPr marL="12700" marR="68580" indent="457200">
              <a:lnSpc>
                <a:spcPct val="110700"/>
              </a:lnSpc>
              <a:spcBef>
                <a:spcPts val="97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Impact: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Medium.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Infected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personal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"jailbroken" </a:t>
            </a:r>
            <a:r>
              <a:rPr dirty="0" sz="1400">
                <a:latin typeface="Times New Roman"/>
                <a:cs typeface="Times New Roman"/>
              </a:rPr>
              <a:t>machines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infrastructure,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bridge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enter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environment.</a:t>
            </a: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1200"/>
              </a:spcBef>
              <a:buAutoNum type="arabicPeriod" startAt="3"/>
              <a:tabLst>
                <a:tab pos="19177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Infrastructure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&amp;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Resilience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Vulnerabilities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400">
                <a:latin typeface="Times New Roman"/>
                <a:cs typeface="Times New Roman"/>
              </a:rPr>
              <a:t>App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Exposure</a:t>
            </a:r>
            <a:endParaRPr sz="14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spcBef>
                <a:spcPts val="117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Category: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A04:2021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Insecure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Design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16930" cy="824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271780" indent="457200">
              <a:lnSpc>
                <a:spcPct val="110000"/>
              </a:lnSpc>
              <a:spcBef>
                <a:spcPts val="100"/>
              </a:spcBef>
              <a:buChar char="•"/>
              <a:tabLst>
                <a:tab pos="469900" algn="l"/>
              </a:tabLst>
            </a:pPr>
            <a:r>
              <a:rPr dirty="0" sz="1400" spc="-10">
                <a:latin typeface="Times New Roman"/>
                <a:cs typeface="Times New Roman"/>
              </a:rPr>
              <a:t>Description: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Placing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Connectors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DMZ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inbound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ports </a:t>
            </a:r>
            <a:r>
              <a:rPr dirty="0" sz="1400">
                <a:latin typeface="Times New Roman"/>
                <a:cs typeface="Times New Roman"/>
              </a:rPr>
              <a:t>(TCP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443/80)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internet.</a:t>
            </a:r>
            <a:endParaRPr sz="1400">
              <a:latin typeface="Times New Roman"/>
              <a:cs typeface="Times New Roman"/>
            </a:endParaRPr>
          </a:p>
          <a:p>
            <a:pPr algn="just" marL="12700" marR="300355" indent="457200">
              <a:lnSpc>
                <a:spcPct val="110000"/>
              </a:lnSpc>
              <a:spcBef>
                <a:spcPts val="1010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"inside-</a:t>
            </a:r>
            <a:r>
              <a:rPr dirty="0" sz="1400">
                <a:latin typeface="Times New Roman"/>
                <a:cs typeface="Times New Roman"/>
              </a:rPr>
              <a:t>out"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connectivity </a:t>
            </a:r>
            <a:r>
              <a:rPr dirty="0" sz="1400">
                <a:latin typeface="Times New Roman"/>
                <a:cs typeface="Times New Roman"/>
              </a:rPr>
              <a:t>(outbound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only).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Opening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inbound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discoverable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surface, </a:t>
            </a:r>
            <a:r>
              <a:rPr dirty="0" sz="1400">
                <a:latin typeface="Times New Roman"/>
                <a:cs typeface="Times New Roman"/>
              </a:rPr>
              <a:t>making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DDoS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which </a:t>
            </a:r>
            <a:r>
              <a:rPr dirty="0" sz="1400">
                <a:latin typeface="Times New Roman"/>
                <a:cs typeface="Times New Roman"/>
              </a:rPr>
              <a:t>defeats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"Invisibility"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pillar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60579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11430">
              <a:lnSpc>
                <a:spcPct val="11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focus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understanding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Zero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architecture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follows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principle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“Never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Trust,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imes New Roman"/>
                <a:cs typeface="Times New Roman"/>
              </a:rPr>
              <a:t>Always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Verify.”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VPN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solutions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network,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attacker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compromises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account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move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laterally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across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sensitive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ZTNA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solves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problem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secure application-</a:t>
            </a:r>
            <a:r>
              <a:rPr dirty="0" sz="1400">
                <a:latin typeface="Times New Roman"/>
                <a:cs typeface="Times New Roman"/>
              </a:rPr>
              <a:t>level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instead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network-</a:t>
            </a:r>
            <a:r>
              <a:rPr dirty="0" sz="1400">
                <a:latin typeface="Times New Roman"/>
                <a:cs typeface="Times New Roman"/>
              </a:rPr>
              <a:t>level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174625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administrators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These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use.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example,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students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 </a:t>
            </a:r>
            <a:r>
              <a:rPr dirty="0" sz="1400">
                <a:latin typeface="Times New Roman"/>
                <a:cs typeface="Times New Roman"/>
              </a:rPr>
              <a:t>(LMS),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faculty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members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ERP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portal,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administrators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may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surface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overall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100"/>
              </a:lnSpc>
            </a:pP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before </a:t>
            </a:r>
            <a:r>
              <a:rPr dirty="0" sz="1400">
                <a:latin typeface="Times New Roman"/>
                <a:cs typeface="Times New Roman"/>
              </a:rPr>
              <a:t>allowing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authenticated,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micro-</a:t>
            </a:r>
            <a:r>
              <a:rPr dirty="0" sz="1400" spc="-10">
                <a:latin typeface="Times New Roman"/>
                <a:cs typeface="Times New Roman"/>
              </a:rPr>
              <a:t>tunnel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23915" cy="8154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08940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between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remains </a:t>
            </a:r>
            <a:r>
              <a:rPr dirty="0" sz="1400">
                <a:latin typeface="Times New Roman"/>
                <a:cs typeface="Times New Roman"/>
              </a:rPr>
              <a:t>hidden,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cannot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resources.</a:t>
            </a:r>
            <a:endParaRPr sz="1400">
              <a:latin typeface="Times New Roman"/>
              <a:cs typeface="Times New Roman"/>
            </a:endParaRPr>
          </a:p>
          <a:p>
            <a:pPr marL="12700" marR="44450">
              <a:lnSpc>
                <a:spcPct val="110400"/>
              </a:lnSpc>
              <a:spcBef>
                <a:spcPts val="1005"/>
              </a:spcBef>
            </a:pP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assessment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Nessus. </a:t>
            </a: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widely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10">
                <a:latin typeface="Times New Roman"/>
                <a:cs typeface="Times New Roman"/>
              </a:rPr>
              <a:t> vulnerabilities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 </a:t>
            </a:r>
            <a:r>
              <a:rPr dirty="0" sz="1400">
                <a:latin typeface="Times New Roman"/>
                <a:cs typeface="Times New Roman"/>
              </a:rPr>
              <a:t>websites,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target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detects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weaknesses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outdated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encryption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protocols,</a:t>
            </a:r>
            <a:r>
              <a:rPr dirty="0" sz="1400" spc="-25">
                <a:latin typeface="Times New Roman"/>
                <a:cs typeface="Times New Roman"/>
              </a:rPr>
              <a:t> and </a:t>
            </a:r>
            <a:r>
              <a:rPr dirty="0" sz="1400" spc="-10">
                <a:latin typeface="Times New Roman"/>
                <a:cs typeface="Times New Roman"/>
              </a:rPr>
              <a:t>misconfigured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services.</a:t>
            </a:r>
            <a:endParaRPr sz="1400">
              <a:latin typeface="Times New Roman"/>
              <a:cs typeface="Times New Roman"/>
            </a:endParaRPr>
          </a:p>
          <a:p>
            <a:pPr marL="12700" marR="243840">
              <a:lnSpc>
                <a:spcPct val="110700"/>
              </a:lnSpc>
              <a:spcBef>
                <a:spcPts val="975"/>
              </a:spcBef>
            </a:pP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potential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before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them.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name,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severity </a:t>
            </a:r>
            <a:r>
              <a:rPr dirty="0" sz="1400">
                <a:latin typeface="Times New Roman"/>
                <a:cs typeface="Times New Roman"/>
              </a:rPr>
              <a:t>level,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plugin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description,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recommended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solution.</a:t>
            </a:r>
            <a:endParaRPr sz="1400">
              <a:latin typeface="Times New Roman"/>
              <a:cs typeface="Times New Roman"/>
            </a:endParaRPr>
          </a:p>
          <a:p>
            <a:pPr marL="12700" marR="124460">
              <a:lnSpc>
                <a:spcPct val="110700"/>
              </a:lnSpc>
              <a:spcBef>
                <a:spcPts val="975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both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ZTNA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assessment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components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of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cybersecurity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400">
                <a:latin typeface="Times New Roman"/>
                <a:cs typeface="Times New Roman"/>
              </a:rPr>
              <a:t>What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Understood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Nessus</a:t>
            </a:r>
            <a:endParaRPr sz="1400">
              <a:latin typeface="Times New Roman"/>
              <a:cs typeface="Times New Roman"/>
            </a:endParaRPr>
          </a:p>
          <a:p>
            <a:pPr marL="12700" marR="258445">
              <a:lnSpc>
                <a:spcPct val="110700"/>
              </a:lnSpc>
              <a:spcBef>
                <a:spcPts val="1000"/>
              </a:spcBef>
            </a:pP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assessment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weaknesses.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thousands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known vulnerabilities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plugins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databases.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include: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Vulnerability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name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>
                <a:latin typeface="Times New Roman"/>
                <a:cs typeface="Times New Roman"/>
              </a:rPr>
              <a:t>Severity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(Low,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Medium,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Critical)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Plugin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ID</a:t>
            </a:r>
            <a:endParaRPr sz="1400">
              <a:latin typeface="Times New Roman"/>
              <a:cs typeface="Times New Roman"/>
            </a:endParaRPr>
          </a:p>
          <a:p>
            <a:pPr marL="12700" marR="4222115">
              <a:lnSpc>
                <a:spcPts val="2860"/>
              </a:lnSpc>
              <a:spcBef>
                <a:spcPts val="240"/>
              </a:spcBef>
            </a:pPr>
            <a:r>
              <a:rPr dirty="0" sz="1400" spc="-10">
                <a:latin typeface="Times New Roman"/>
                <a:cs typeface="Times New Roman"/>
              </a:rPr>
              <a:t>Description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issue Recommended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solution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early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fix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they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attackers.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1743075" cy="20491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Target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Website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 spc="-10">
                <a:latin typeface="Times New Roman"/>
                <a:cs typeface="Times New Roman"/>
                <a:hlinkClick r:id="rId2"/>
              </a:rPr>
              <a:t>http://dvwa.co.uk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Target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IP </a:t>
            </a:r>
            <a:r>
              <a:rPr dirty="0" sz="1400" spc="-10" b="1">
                <a:latin typeface="Times New Roman"/>
                <a:cs typeface="Times New Roman"/>
              </a:rPr>
              <a:t>Address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400" spc="-10">
                <a:latin typeface="Times New Roman"/>
                <a:cs typeface="Times New Roman"/>
              </a:rPr>
              <a:t>192.168.1.10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Vulnerabilities: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41552" y="3451225"/>
          <a:ext cx="6168390" cy="2073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460"/>
                <a:gridCol w="1521460"/>
                <a:gridCol w="1521459"/>
                <a:gridCol w="1520825"/>
              </a:tblGrid>
              <a:tr h="41465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429895">
                        <a:lnSpc>
                          <a:spcPts val="1610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Vulnerability 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Severity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Plugin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575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04139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SSL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Certificate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Trusted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51192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15265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TLS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Protocol Enabled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104743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3.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5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HTTP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Methods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63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Allowed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8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Low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8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11213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4.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34315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dirty="0" sz="1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Security Headers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11219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902004" y="5871717"/>
            <a:ext cx="5764530" cy="32410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REPORT: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2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Name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400">
                <a:latin typeface="Times New Roman"/>
                <a:cs typeface="Times New Roman"/>
              </a:rPr>
              <a:t>SSL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Certificate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Cannot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Trusted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400" b="1">
                <a:latin typeface="Times New Roman"/>
                <a:cs typeface="Times New Roman"/>
              </a:rPr>
              <a:t>Severity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Medium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Times New Roman"/>
                <a:cs typeface="Times New Roman"/>
              </a:rPr>
              <a:t>Plugin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51192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Times New Roman"/>
                <a:cs typeface="Times New Roman"/>
              </a:rPr>
              <a:t>Port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443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800"/>
              </a:lnSpc>
              <a:spcBef>
                <a:spcPts val="950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SSL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certificate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website is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issued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certificate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authority.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receive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warning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when </a:t>
            </a:r>
            <a:r>
              <a:rPr dirty="0" sz="1400" spc="-10">
                <a:latin typeface="Times New Roman"/>
                <a:cs typeface="Times New Roman"/>
              </a:rPr>
              <a:t>accessing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site.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540375" cy="75888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>
                <a:latin typeface="Times New Roman"/>
                <a:cs typeface="Times New Roman"/>
              </a:rPr>
              <a:t>Install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SSL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certificate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certificate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authority.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12700" marR="233045">
              <a:lnSpc>
                <a:spcPct val="111400"/>
              </a:lnSpc>
              <a:spcBef>
                <a:spcPts val="935"/>
              </a:spcBef>
            </a:pP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man-</a:t>
            </a:r>
            <a:r>
              <a:rPr dirty="0" sz="1400" spc="-10">
                <a:latin typeface="Times New Roman"/>
                <a:cs typeface="Times New Roman"/>
              </a:rPr>
              <a:t>in-</a:t>
            </a:r>
            <a:r>
              <a:rPr dirty="0" sz="1400">
                <a:latin typeface="Times New Roman"/>
                <a:cs typeface="Times New Roman"/>
              </a:rPr>
              <a:t>the-middle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intercept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  <a:p>
            <a:pPr marL="12700" marR="3667760">
              <a:lnSpc>
                <a:spcPct val="169600"/>
              </a:lnSpc>
              <a:spcBef>
                <a:spcPts val="10"/>
              </a:spcBef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2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Name</a:t>
            </a:r>
            <a:r>
              <a:rPr dirty="0" sz="1400" spc="50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Protocol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Enabled </a:t>
            </a:r>
            <a:r>
              <a:rPr dirty="0" sz="1400" b="1">
                <a:latin typeface="Times New Roman"/>
                <a:cs typeface="Times New Roman"/>
              </a:rPr>
              <a:t>Severity: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Medium </a:t>
            </a:r>
            <a:r>
              <a:rPr dirty="0" sz="1400" b="1">
                <a:latin typeface="Times New Roman"/>
                <a:cs typeface="Times New Roman"/>
              </a:rPr>
              <a:t>Plugin: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104743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Times New Roman"/>
                <a:cs typeface="Times New Roman"/>
              </a:rPr>
              <a:t>Port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443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 spc="-10" b="1">
                <a:latin typeface="Times New Roman"/>
                <a:cs typeface="Times New Roman"/>
              </a:rPr>
              <a:t>Description</a:t>
            </a:r>
            <a:r>
              <a:rPr dirty="0" sz="1400" spc="-1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382905">
              <a:lnSpc>
                <a:spcPct val="110000"/>
              </a:lnSpc>
              <a:spcBef>
                <a:spcPts val="101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outdated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encryption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protocol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(TLS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1.0),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is </a:t>
            </a:r>
            <a:r>
              <a:rPr dirty="0" sz="1400">
                <a:latin typeface="Times New Roman"/>
                <a:cs typeface="Times New Roman"/>
              </a:rPr>
              <a:t>considered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insecure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cryptographic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>
                <a:latin typeface="Times New Roman"/>
                <a:cs typeface="Times New Roman"/>
              </a:rPr>
              <a:t>Disable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TLS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stronger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protocols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TLS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1.2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TLS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1.3.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encryption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protocols.</a:t>
            </a:r>
            <a:endParaRPr sz="1400">
              <a:latin typeface="Times New Roman"/>
              <a:cs typeface="Times New Roman"/>
            </a:endParaRPr>
          </a:p>
          <a:p>
            <a:pPr marL="12700" marR="3754754">
              <a:lnSpc>
                <a:spcPct val="169300"/>
              </a:lnSpc>
              <a:spcBef>
                <a:spcPts val="15"/>
              </a:spcBef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2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Name </a:t>
            </a:r>
            <a:r>
              <a:rPr dirty="0" sz="1400">
                <a:latin typeface="Times New Roman"/>
                <a:cs typeface="Times New Roman"/>
              </a:rPr>
              <a:t>HTTP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Allowed </a:t>
            </a:r>
            <a:r>
              <a:rPr dirty="0" sz="1400" b="1">
                <a:latin typeface="Times New Roman"/>
                <a:cs typeface="Times New Roman"/>
              </a:rPr>
              <a:t>Severity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Low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Times New Roman"/>
                <a:cs typeface="Times New Roman"/>
              </a:rPr>
              <a:t>Plugin: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11213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400" b="1">
                <a:latin typeface="Times New Roman"/>
                <a:cs typeface="Times New Roman"/>
              </a:rPr>
              <a:t>Port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80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904865" cy="81864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76835">
              <a:lnSpc>
                <a:spcPct val="1102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unnecessary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HTTP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PUT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DELETE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that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 misused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attackers.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>
                <a:latin typeface="Times New Roman"/>
                <a:cs typeface="Times New Roman"/>
              </a:rPr>
              <a:t>Restrict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HTTP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POST.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12700" marR="273050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manipulate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unnecessary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HTTP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are </a:t>
            </a:r>
            <a:r>
              <a:rPr dirty="0" sz="1400" spc="-10">
                <a:latin typeface="Times New Roman"/>
                <a:cs typeface="Times New Roman"/>
              </a:rPr>
              <a:t>enabled.</a:t>
            </a:r>
            <a:endParaRPr sz="1400">
              <a:latin typeface="Times New Roman"/>
              <a:cs typeface="Times New Roman"/>
            </a:endParaRPr>
          </a:p>
          <a:p>
            <a:pPr marL="12700" marR="4051935">
              <a:lnSpc>
                <a:spcPct val="169600"/>
              </a:lnSpc>
              <a:spcBef>
                <a:spcPts val="35"/>
              </a:spcBef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2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Name </a:t>
            </a:r>
            <a:r>
              <a:rPr dirty="0" sz="1400">
                <a:latin typeface="Times New Roman"/>
                <a:cs typeface="Times New Roman"/>
              </a:rPr>
              <a:t>Missing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Headers </a:t>
            </a:r>
            <a:r>
              <a:rPr dirty="0" sz="1400" b="1">
                <a:latin typeface="Times New Roman"/>
                <a:cs typeface="Times New Roman"/>
              </a:rPr>
              <a:t>Severity: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Medium </a:t>
            </a:r>
            <a:r>
              <a:rPr dirty="0" sz="1400" b="1">
                <a:latin typeface="Times New Roman"/>
                <a:cs typeface="Times New Roman"/>
              </a:rPr>
              <a:t>Plugin: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11219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400" b="1">
                <a:latin typeface="Times New Roman"/>
                <a:cs typeface="Times New Roman"/>
              </a:rPr>
              <a:t>Port: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80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HTTP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headers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as </a:t>
            </a:r>
            <a:r>
              <a:rPr dirty="0" sz="1400" spc="-10">
                <a:latin typeface="Times New Roman"/>
                <a:cs typeface="Times New Roman"/>
              </a:rPr>
              <a:t>Content-Security-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X-</a:t>
            </a:r>
            <a:r>
              <a:rPr dirty="0" sz="1400" spc="-20">
                <a:latin typeface="Times New Roman"/>
                <a:cs typeface="Times New Roman"/>
              </a:rPr>
              <a:t>Frame-</a:t>
            </a:r>
            <a:r>
              <a:rPr dirty="0" sz="1400" spc="-10">
                <a:latin typeface="Times New Roman"/>
                <a:cs typeface="Times New Roman"/>
              </a:rPr>
              <a:t>Options.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400">
                <a:latin typeface="Times New Roman"/>
                <a:cs typeface="Times New Roman"/>
              </a:rPr>
              <a:t>Configure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headers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configuration.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7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</a:t>
            </a:r>
            <a:r>
              <a:rPr dirty="0" sz="1400" spc="-1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website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clickjacking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cross-site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scripting.</a:t>
            </a:r>
            <a:endParaRPr sz="1400">
              <a:latin typeface="Times New Roman"/>
              <a:cs typeface="Times New Roman"/>
            </a:endParaRPr>
          </a:p>
          <a:p>
            <a:pPr marL="12700" marR="4382135">
              <a:lnSpc>
                <a:spcPct val="169600"/>
              </a:lnSpc>
              <a:spcBef>
                <a:spcPts val="35"/>
              </a:spcBef>
            </a:pPr>
            <a:r>
              <a:rPr dirty="0" sz="1400" spc="-10" b="1">
                <a:latin typeface="Times New Roman"/>
                <a:cs typeface="Times New Roman"/>
              </a:rPr>
              <a:t>Vulnerability</a:t>
            </a:r>
            <a:r>
              <a:rPr dirty="0" sz="1400" spc="2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Name </a:t>
            </a:r>
            <a:r>
              <a:rPr dirty="0" sz="1400">
                <a:latin typeface="Times New Roman"/>
                <a:cs typeface="Times New Roman"/>
              </a:rPr>
              <a:t>Open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Detected </a:t>
            </a:r>
            <a:r>
              <a:rPr dirty="0" sz="1400" b="1">
                <a:latin typeface="Times New Roman"/>
                <a:cs typeface="Times New Roman"/>
              </a:rPr>
              <a:t>Severity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Low </a:t>
            </a:r>
            <a:r>
              <a:rPr dirty="0" sz="1400" b="1">
                <a:latin typeface="Times New Roman"/>
                <a:cs typeface="Times New Roman"/>
              </a:rPr>
              <a:t>Plugin: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10335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6713"/>
            <a:ext cx="5942330" cy="813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Port: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22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20955">
              <a:lnSpc>
                <a:spcPct val="110000"/>
              </a:lnSpc>
              <a:spcBef>
                <a:spcPts val="990"/>
              </a:spcBef>
            </a:pP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services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be </a:t>
            </a:r>
            <a:r>
              <a:rPr dirty="0" sz="1400">
                <a:latin typeface="Times New Roman"/>
                <a:cs typeface="Times New Roman"/>
              </a:rPr>
              <a:t>targeted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attackers.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400">
                <a:latin typeface="Times New Roman"/>
                <a:cs typeface="Times New Roman"/>
              </a:rPr>
              <a:t>Close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unnecessary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firewall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rules.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12700" marR="177800">
              <a:lnSpc>
                <a:spcPct val="1102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Open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increase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surface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 access.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Times New Roman"/>
              <a:cs typeface="Times New Roman"/>
            </a:endParaRPr>
          </a:p>
          <a:p>
            <a:pPr marL="2549525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REPORT: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400" b="1">
                <a:latin typeface="Times New Roman"/>
                <a:cs typeface="Times New Roman"/>
              </a:rPr>
              <a:t>Title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(ZPA)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SOC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(Security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Operations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Center)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(SOC)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centralized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responsible </a:t>
            </a:r>
            <a:r>
              <a:rPr dirty="0" sz="1400" spc="-25">
                <a:latin typeface="Times New Roman"/>
                <a:cs typeface="Times New Roman"/>
              </a:rPr>
              <a:t>for </a:t>
            </a:r>
            <a:r>
              <a:rPr dirty="0" sz="1400">
                <a:latin typeface="Times New Roman"/>
                <a:cs typeface="Times New Roman"/>
              </a:rPr>
              <a:t>monitoring,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detecting,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responding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 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organization.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infrastructure,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10">
                <a:latin typeface="Times New Roman"/>
                <a:cs typeface="Times New Roman"/>
              </a:rPr>
              <a:t>sensitive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alerts,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activities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SOC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plays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when </a:t>
            </a:r>
            <a:r>
              <a:rPr dirty="0" sz="1400" spc="-10">
                <a:latin typeface="Times New Roman"/>
                <a:cs typeface="Times New Roman"/>
              </a:rPr>
              <a:t>implementing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10">
                <a:latin typeface="Times New Roman"/>
                <a:cs typeface="Times New Roman"/>
              </a:rPr>
              <a:t> Access.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suspicious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attempts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unusual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 </a:t>
            </a:r>
            <a:r>
              <a:rPr dirty="0" sz="1400">
                <a:latin typeface="Times New Roman"/>
                <a:cs typeface="Times New Roman"/>
              </a:rPr>
              <a:t>traffic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detected,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investigate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take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necessary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actions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prevent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breaches.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concept,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understood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24/7.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951220" cy="8162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SOC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Cycle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refers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structured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followed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operations </a:t>
            </a:r>
            <a:r>
              <a:rPr dirty="0" sz="1400">
                <a:latin typeface="Times New Roman"/>
                <a:cs typeface="Times New Roman"/>
              </a:rPr>
              <a:t>team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handle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effectively.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typically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several </a:t>
            </a:r>
            <a:r>
              <a:rPr dirty="0" sz="1400">
                <a:latin typeface="Times New Roman"/>
                <a:cs typeface="Times New Roman"/>
              </a:rPr>
              <a:t>stages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analysis,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reporting.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phase,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collect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phase,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generated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abnormal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identified.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analysis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investigate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determine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real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false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positive.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confirmed,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phase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begins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appropriate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taken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addresses,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isolating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Finally,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stage </a:t>
            </a:r>
            <a:r>
              <a:rPr dirty="0" sz="1400">
                <a:latin typeface="Times New Roman"/>
                <a:cs typeface="Times New Roman"/>
              </a:rPr>
              <a:t>documents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future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strategies.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Understanding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incidents systematically.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20" b="1">
                <a:latin typeface="Times New Roman"/>
                <a:cs typeface="Times New Roman"/>
              </a:rPr>
              <a:t>SIEM</a:t>
            </a:r>
            <a:endParaRPr sz="1400">
              <a:latin typeface="Times New Roman"/>
              <a:cs typeface="Times New Roman"/>
            </a:endParaRPr>
          </a:p>
          <a:p>
            <a:pPr marL="12700" marR="44450">
              <a:lnSpc>
                <a:spcPct val="1102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(SIEM)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collect,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various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sources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servers, </a:t>
            </a:r>
            <a:r>
              <a:rPr dirty="0" sz="1400">
                <a:latin typeface="Times New Roman"/>
                <a:cs typeface="Times New Roman"/>
              </a:rPr>
              <a:t>firewalls,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teams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potential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correlating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multiple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sources.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modern cybersecurity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essential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real-time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commonly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IBM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collects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them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suspicious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activities.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concept,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I </a:t>
            </a:r>
            <a:r>
              <a:rPr dirty="0" sz="1400">
                <a:latin typeface="Times New Roman"/>
                <a:cs typeface="Times New Roman"/>
              </a:rPr>
              <a:t>understood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quickly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respond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them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efficiently.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audits.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400" b="1">
                <a:latin typeface="Times New Roman"/>
                <a:cs typeface="Times New Roman"/>
              </a:rPr>
              <a:t>SIEM</a:t>
            </a:r>
            <a:r>
              <a:rPr dirty="0" sz="1400" spc="-10" b="1">
                <a:latin typeface="Times New Roman"/>
                <a:cs typeface="Times New Roman"/>
              </a:rPr>
              <a:t> Cycle</a:t>
            </a:r>
            <a:endParaRPr sz="1400">
              <a:latin typeface="Times New Roman"/>
              <a:cs typeface="Times New Roman"/>
            </a:endParaRPr>
          </a:p>
          <a:p>
            <a:pPr marL="12700" marR="60960">
              <a:lnSpc>
                <a:spcPct val="1103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describes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data.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begins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collection,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gathered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from </a:t>
            </a:r>
            <a:r>
              <a:rPr dirty="0" sz="1400">
                <a:latin typeface="Times New Roman"/>
                <a:cs typeface="Times New Roman"/>
              </a:rPr>
              <a:t>different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Next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normalization,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collected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data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converted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standard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format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easily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analyzed.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After normalization,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correlation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patterns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anomalies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indicate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is </a:t>
            </a:r>
            <a:r>
              <a:rPr dirty="0" sz="1400">
                <a:latin typeface="Times New Roman"/>
                <a:cs typeface="Times New Roman"/>
              </a:rPr>
              <a:t>detected,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generates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team. Finally,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incident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28995" cy="797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367665">
              <a:lnSpc>
                <a:spcPct val="11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carried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mitigate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document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event.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use </a:t>
            </a:r>
            <a:r>
              <a:rPr dirty="0" sz="1400">
                <a:latin typeface="Times New Roman"/>
                <a:cs typeface="Times New Roman"/>
              </a:rPr>
              <a:t>technology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MISP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(Threat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Intelligence Platform)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MISP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open-</a:t>
            </a:r>
            <a:r>
              <a:rPr dirty="0" sz="1400">
                <a:latin typeface="Times New Roman"/>
                <a:cs typeface="Times New Roman"/>
              </a:rPr>
              <a:t>source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sharing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analyzing cybersecurity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threats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malicious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addresses,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malware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signatures,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By </a:t>
            </a:r>
            <a:r>
              <a:rPr dirty="0" sz="1400">
                <a:latin typeface="Times New Roman"/>
                <a:cs typeface="Times New Roman"/>
              </a:rPr>
              <a:t>sharing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MISP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helps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prevention.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SIEM,</a:t>
            </a:r>
            <a:r>
              <a:rPr dirty="0" sz="1400" spc="-20">
                <a:latin typeface="Times New Roman"/>
                <a:cs typeface="Times New Roman"/>
              </a:rPr>
              <a:t> MISP </a:t>
            </a:r>
            <a:r>
              <a:rPr dirty="0" sz="1400">
                <a:latin typeface="Times New Roman"/>
                <a:cs typeface="Times New Roman"/>
              </a:rPr>
              <a:t>provides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valuable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monitoring </a:t>
            </a:r>
            <a:r>
              <a:rPr dirty="0" sz="1400">
                <a:latin typeface="Times New Roman"/>
                <a:cs typeface="Times New Roman"/>
              </a:rPr>
              <a:t>systems.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known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quickly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take </a:t>
            </a:r>
            <a:r>
              <a:rPr dirty="0" sz="1400">
                <a:latin typeface="Times New Roman"/>
                <a:cs typeface="Times New Roman"/>
              </a:rPr>
              <a:t>proactive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measures.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Learning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how </a:t>
            </a:r>
            <a:r>
              <a:rPr dirty="0" sz="1400">
                <a:latin typeface="Times New Roman"/>
                <a:cs typeface="Times New Roman"/>
              </a:rPr>
              <a:t>threat </a:t>
            </a:r>
            <a:r>
              <a:rPr dirty="0" sz="1400" spc="-10">
                <a:latin typeface="Times New Roman"/>
                <a:cs typeface="Times New Roman"/>
              </a:rPr>
              <a:t>intelligence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plays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operations.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400" b="1">
                <a:latin typeface="Times New Roman"/>
                <a:cs typeface="Times New Roman"/>
              </a:rPr>
              <a:t>Your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College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Network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Information</a:t>
            </a:r>
            <a:endParaRPr sz="1400">
              <a:latin typeface="Times New Roman"/>
              <a:cs typeface="Times New Roman"/>
            </a:endParaRPr>
          </a:p>
          <a:p>
            <a:pPr marL="12700" marR="153670">
              <a:lnSpc>
                <a:spcPct val="110300"/>
              </a:lnSpc>
              <a:spcBef>
                <a:spcPts val="955"/>
              </a:spcBef>
            </a:pP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typical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college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consists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multiple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components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student </a:t>
            </a:r>
            <a:r>
              <a:rPr dirty="0" sz="1400">
                <a:latin typeface="Times New Roman"/>
                <a:cs typeface="Times New Roman"/>
              </a:rPr>
              <a:t>computer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labs,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administrative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offices,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faculty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internet connectivity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infrastructure. </a:t>
            </a:r>
            <a:r>
              <a:rPr dirty="0" sz="1400">
                <a:latin typeface="Times New Roman"/>
                <a:cs typeface="Times New Roman"/>
              </a:rPr>
              <a:t>The network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usually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routers,</a:t>
            </a:r>
            <a:r>
              <a:rPr dirty="0" sz="1400" spc="-10">
                <a:latin typeface="Times New Roman"/>
                <a:cs typeface="Times New Roman"/>
              </a:rPr>
              <a:t> switches, </a:t>
            </a:r>
            <a:r>
              <a:rPr dirty="0" sz="1400">
                <a:latin typeface="Times New Roman"/>
                <a:cs typeface="Times New Roman"/>
              </a:rPr>
              <a:t>wireless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points,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firewalls,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host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like </a:t>
            </a:r>
            <a:r>
              <a:rPr dirty="0" sz="1400">
                <a:latin typeface="Times New Roman"/>
                <a:cs typeface="Times New Roman"/>
              </a:rPr>
              <a:t>the Learning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(LMS),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student </a:t>
            </a:r>
            <a:r>
              <a:rPr dirty="0" sz="1400" spc="-10">
                <a:latin typeface="Times New Roman"/>
                <a:cs typeface="Times New Roman"/>
              </a:rPr>
              <a:t>information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ERP </a:t>
            </a:r>
            <a:r>
              <a:rPr dirty="0" sz="1400">
                <a:latin typeface="Times New Roman"/>
                <a:cs typeface="Times New Roman"/>
              </a:rPr>
              <a:t>portals.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Students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faculty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computers,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laptops,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mobile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connected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campus </a:t>
            </a:r>
            <a:r>
              <a:rPr dirty="0" sz="1400" spc="-10">
                <a:latin typeface="Times New Roman"/>
                <a:cs typeface="Times New Roman"/>
              </a:rPr>
              <a:t>network.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6985">
              <a:lnSpc>
                <a:spcPct val="110300"/>
              </a:lnSpc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solutions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implemented.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ZPA,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granted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rather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entire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example, </a:t>
            </a:r>
            <a:r>
              <a:rPr dirty="0" sz="1400">
                <a:latin typeface="Times New Roman"/>
                <a:cs typeface="Times New Roman"/>
              </a:rPr>
              <a:t>students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academic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portals,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faculty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members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administrative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remain </a:t>
            </a:r>
            <a:r>
              <a:rPr dirty="0" sz="1400">
                <a:latin typeface="Times New Roman"/>
                <a:cs typeface="Times New Roman"/>
              </a:rPr>
              <a:t>protected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college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955665" cy="79667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How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You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Think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You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Deploy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SOC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Your</a:t>
            </a:r>
            <a:r>
              <a:rPr dirty="0" sz="1400" spc="-10" b="1">
                <a:latin typeface="Times New Roman"/>
                <a:cs typeface="Times New Roman"/>
              </a:rPr>
              <a:t> College</a:t>
            </a:r>
            <a:endParaRPr sz="1400">
              <a:latin typeface="Times New Roman"/>
              <a:cs typeface="Times New Roman"/>
            </a:endParaRPr>
          </a:p>
          <a:p>
            <a:pPr marL="12700" marR="267970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deploy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(SOC)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college,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 first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step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assets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portals, administrative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laboratory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computers.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tools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installed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collect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devices.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centralized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monitoring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activities.</a:t>
            </a:r>
            <a:endParaRPr sz="1400">
              <a:latin typeface="Times New Roman"/>
              <a:cs typeface="Times New Roman"/>
            </a:endParaRPr>
          </a:p>
          <a:p>
            <a:pPr marL="12700" marR="29845">
              <a:lnSpc>
                <a:spcPct val="110500"/>
              </a:lnSpc>
              <a:spcBef>
                <a:spcPts val="1000"/>
              </a:spcBef>
            </a:pP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Zscaler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Private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implement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application-specific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role.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example,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students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while administrative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staff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internal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marL="12700" marR="414020">
              <a:lnSpc>
                <a:spcPct val="1105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continuously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activity,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quickly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training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staff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incidents effectively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overall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campus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Threat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Intelligence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400"/>
              </a:lnSpc>
              <a:spcBef>
                <a:spcPts val="975"/>
              </a:spcBef>
            </a:pP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refers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collecting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potential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</a:t>
            </a:r>
            <a:r>
              <a:rPr dirty="0" sz="1400" spc="-10">
                <a:latin typeface="Times New Roman"/>
                <a:cs typeface="Times New Roman"/>
              </a:rPr>
              <a:t> malicious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addresses, </a:t>
            </a:r>
            <a:r>
              <a:rPr dirty="0" sz="1400">
                <a:latin typeface="Times New Roman"/>
                <a:cs typeface="Times New Roman"/>
              </a:rPr>
              <a:t>malware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signatures,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phishing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commonly </a:t>
            </a:r>
            <a:r>
              <a:rPr dirty="0" sz="1400">
                <a:latin typeface="Times New Roman"/>
                <a:cs typeface="Times New Roman"/>
              </a:rPr>
              <a:t>exploit.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take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proactive</a:t>
            </a:r>
            <a:r>
              <a:rPr dirty="0" sz="1400" spc="-10">
                <a:latin typeface="Times New Roman"/>
                <a:cs typeface="Times New Roman"/>
              </a:rPr>
              <a:t> measures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marL="12700" marR="152400">
              <a:lnSpc>
                <a:spcPct val="110000"/>
              </a:lnSpc>
              <a:spcBef>
                <a:spcPts val="1010"/>
              </a:spcBef>
            </a:pP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share information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 new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vulnerabilities.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 </a:t>
            </a:r>
            <a:r>
              <a:rPr dirty="0" sz="1400">
                <a:latin typeface="Times New Roman"/>
                <a:cs typeface="Times New Roman"/>
              </a:rPr>
              <a:t>stay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latest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risks.</a:t>
            </a:r>
            <a:endParaRPr sz="1400">
              <a:latin typeface="Times New Roman"/>
              <a:cs typeface="Times New Roman"/>
            </a:endParaRPr>
          </a:p>
          <a:p>
            <a:pPr marL="12700" marR="25400">
              <a:lnSpc>
                <a:spcPct val="110000"/>
              </a:lnSpc>
              <a:spcBef>
                <a:spcPts val="1010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 </a:t>
            </a:r>
            <a:r>
              <a:rPr dirty="0" sz="1400" spc="-10">
                <a:latin typeface="Times New Roman"/>
                <a:cs typeface="Times New Roman"/>
              </a:rPr>
              <a:t>intelligence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integrated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suspicious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traffic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malicious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identified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early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cause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 spc="-10">
                <a:latin typeface="Times New Roman"/>
                <a:cs typeface="Times New Roman"/>
              </a:rPr>
              <a:t>system.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 b="1">
                <a:latin typeface="Times New Roman"/>
                <a:cs typeface="Times New Roman"/>
              </a:rPr>
              <a:t>Incident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Response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887085" cy="79921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9690">
              <a:lnSpc>
                <a:spcPct val="1101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managing,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resolving cybersecurity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malware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infections,</a:t>
            </a:r>
            <a:r>
              <a:rPr dirty="0" sz="1400" spc="-10">
                <a:latin typeface="Times New Roman"/>
                <a:cs typeface="Times New Roman"/>
              </a:rPr>
              <a:t> 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attempts,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breaches.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restore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quickly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possible.</a:t>
            </a:r>
            <a:endParaRPr sz="1400">
              <a:latin typeface="Times New Roman"/>
              <a:cs typeface="Times New Roman"/>
            </a:endParaRPr>
          </a:p>
          <a:p>
            <a:pPr marL="12700" marR="5715">
              <a:lnSpc>
                <a:spcPct val="110300"/>
              </a:lnSpc>
              <a:spcBef>
                <a:spcPts val="100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usually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involves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several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steps: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analysis, </a:t>
            </a:r>
            <a:r>
              <a:rPr dirty="0" sz="1400">
                <a:latin typeface="Times New Roman"/>
                <a:cs typeface="Times New Roman"/>
              </a:rPr>
              <a:t>containment,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eradication,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recovery.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First,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activity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analysts</a:t>
            </a:r>
            <a:r>
              <a:rPr dirty="0" sz="1400" spc="-10">
                <a:latin typeface="Times New Roman"/>
                <a:cs typeface="Times New Roman"/>
              </a:rPr>
              <a:t> investigate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determine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cause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incident.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affected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are </a:t>
            </a:r>
            <a:r>
              <a:rPr dirty="0" sz="1400">
                <a:latin typeface="Times New Roman"/>
                <a:cs typeface="Times New Roman"/>
              </a:rPr>
              <a:t>isolated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prevent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further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damage.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Finally,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resolved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is </a:t>
            </a:r>
            <a:r>
              <a:rPr dirty="0" sz="1400">
                <a:latin typeface="Times New Roman"/>
                <a:cs typeface="Times New Roman"/>
              </a:rPr>
              <a:t>restored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operation.</a:t>
            </a:r>
            <a:endParaRPr sz="1400">
              <a:latin typeface="Times New Roman"/>
              <a:cs typeface="Times New Roman"/>
            </a:endParaRPr>
          </a:p>
          <a:p>
            <a:pPr marL="12700" marR="132080">
              <a:lnSpc>
                <a:spcPct val="110200"/>
              </a:lnSpc>
              <a:spcBef>
                <a:spcPts val="1005"/>
              </a:spcBef>
            </a:pP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procedures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quickly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 </a:t>
            </a:r>
            <a:r>
              <a:rPr dirty="0" sz="1400">
                <a:latin typeface="Times New Roman"/>
                <a:cs typeface="Times New Roman"/>
              </a:rPr>
              <a:t>attacks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overall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posture.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QRadar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&amp;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Understanding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About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Tool</a:t>
            </a:r>
            <a:endParaRPr sz="1400">
              <a:latin typeface="Times New Roman"/>
              <a:cs typeface="Times New Roman"/>
            </a:endParaRPr>
          </a:p>
          <a:p>
            <a:pPr marL="12700" marR="55244">
              <a:lnSpc>
                <a:spcPct val="110400"/>
              </a:lnSpc>
              <a:spcBef>
                <a:spcPts val="980"/>
              </a:spcBef>
            </a:pPr>
            <a:r>
              <a:rPr dirty="0" sz="1400">
                <a:latin typeface="Times New Roman"/>
                <a:cs typeface="Times New Roman"/>
              </a:rPr>
              <a:t>IBM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powerful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(SIEM)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threats.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collects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different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sources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firewalls, applications,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 </a:t>
            </a:r>
            <a:r>
              <a:rPr dirty="0" sz="1400">
                <a:latin typeface="Times New Roman"/>
                <a:cs typeface="Times New Roman"/>
              </a:rPr>
              <a:t>patterns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abnormal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activities.</a:t>
            </a:r>
            <a:endParaRPr sz="1400">
              <a:latin typeface="Times New Roman"/>
              <a:cs typeface="Times New Roman"/>
            </a:endParaRPr>
          </a:p>
          <a:p>
            <a:pPr marL="12700" marR="208279">
              <a:lnSpc>
                <a:spcPct val="110100"/>
              </a:lnSpc>
              <a:spcBef>
                <a:spcPts val="1005"/>
              </a:spcBef>
            </a:pPr>
            <a:r>
              <a:rPr dirty="0" sz="1400">
                <a:latin typeface="Times New Roman"/>
                <a:cs typeface="Times New Roman"/>
              </a:rPr>
              <a:t>One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 main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advantages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correlate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from </a:t>
            </a:r>
            <a:r>
              <a:rPr dirty="0" sz="1400">
                <a:latin typeface="Times New Roman"/>
                <a:cs typeface="Times New Roman"/>
              </a:rPr>
              <a:t>multiple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sources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generate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potential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detected.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analysts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view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alerts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centralized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dashboard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investigate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further.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005"/>
              </a:spcBef>
            </a:pP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understood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improve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visibility,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faster,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more </a:t>
            </a:r>
            <a:r>
              <a:rPr dirty="0" sz="1400" spc="-10">
                <a:latin typeface="Times New Roman"/>
                <a:cs typeface="Times New Roman"/>
              </a:rPr>
              <a:t>effectively.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plays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 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real- 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monitoring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analysis.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944870" cy="82200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Web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Application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Testing:</a:t>
            </a:r>
            <a:endParaRPr sz="1400">
              <a:latin typeface="Times New Roman"/>
              <a:cs typeface="Times New Roman"/>
            </a:endParaRPr>
          </a:p>
          <a:p>
            <a:pPr marL="12700" marR="441959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testing,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understood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websites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vulnerabilities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weaknesses.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learned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importance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 </a:t>
            </a:r>
            <a:r>
              <a:rPr dirty="0" sz="1400" spc="-10">
                <a:latin typeface="Times New Roman"/>
                <a:cs typeface="Times New Roman"/>
              </a:rPr>
              <a:t>misconfigurations,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insecure authentication,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outdated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 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 attacks.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Nessus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Report: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1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assessment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5">
                <a:latin typeface="Times New Roman"/>
                <a:cs typeface="Times New Roman"/>
              </a:rPr>
              <a:t> and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severity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levels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recommended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solutions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fix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them.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SOC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SIEM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QRadar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Dashboard:</a:t>
            </a:r>
            <a:endParaRPr sz="1400">
              <a:latin typeface="Times New Roman"/>
              <a:cs typeface="Times New Roman"/>
            </a:endParaRPr>
          </a:p>
          <a:p>
            <a:pPr marL="12700" marR="148590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stage,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understood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real-time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using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 IBM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dashboard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teams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activities,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analyze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events,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quickly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Future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Scope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Future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Scope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Web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Application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Testing</a:t>
            </a:r>
            <a:endParaRPr sz="1400">
              <a:latin typeface="Times New Roman"/>
              <a:cs typeface="Times New Roman"/>
            </a:endParaRPr>
          </a:p>
          <a:p>
            <a:pPr marL="12700" marR="84455">
              <a:lnSpc>
                <a:spcPct val="110200"/>
              </a:lnSpc>
              <a:spcBef>
                <a:spcPts val="960"/>
              </a:spcBef>
            </a:pP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evolve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become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more </a:t>
            </a:r>
            <a:r>
              <a:rPr dirty="0" sz="1400">
                <a:latin typeface="Times New Roman"/>
                <a:cs typeface="Times New Roman"/>
              </a:rPr>
              <a:t>advanced.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future,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focus more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assessment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development </a:t>
            </a:r>
            <a:r>
              <a:rPr dirty="0" sz="1400">
                <a:latin typeface="Times New Roman"/>
                <a:cs typeface="Times New Roman"/>
              </a:rPr>
              <a:t>lifecycle.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Developers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development </a:t>
            </a:r>
            <a:r>
              <a:rPr dirty="0" sz="1400">
                <a:latin typeface="Times New Roman"/>
                <a:cs typeface="Times New Roman"/>
              </a:rPr>
              <a:t>pipelines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10">
                <a:latin typeface="Times New Roman"/>
                <a:cs typeface="Times New Roman"/>
              </a:rPr>
              <a:t> vulnerabilities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fixed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early. </a:t>
            </a:r>
            <a:r>
              <a:rPr dirty="0" sz="1400" spc="-10">
                <a:latin typeface="Times New Roman"/>
                <a:cs typeface="Times New Roman"/>
              </a:rPr>
              <a:t>Artificial intelligence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 machine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learning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 identify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complex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unusual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patterns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build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more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 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Future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Scope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Testing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Process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64158"/>
            <a:ext cx="5923915" cy="8135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7470">
              <a:lnSpc>
                <a:spcPct val="110300"/>
              </a:lnSpc>
              <a:spcBef>
                <a:spcPts val="9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advanced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tools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Regular vulnerability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assessments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become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strategies 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as </a:t>
            </a:r>
            <a:r>
              <a:rPr dirty="0" sz="1400">
                <a:latin typeface="Times New Roman"/>
                <a:cs typeface="Times New Roman"/>
              </a:rPr>
              <a:t>Nessus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insights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weaknesses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future, </a:t>
            </a:r>
            <a:r>
              <a:rPr dirty="0" sz="1400" spc="-10">
                <a:latin typeface="Times New Roman"/>
                <a:cs typeface="Times New Roman"/>
              </a:rPr>
              <a:t>vulnerability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scanners may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with </a:t>
            </a:r>
            <a:r>
              <a:rPr dirty="0" sz="1400">
                <a:latin typeface="Times New Roman"/>
                <a:cs typeface="Times New Roman"/>
              </a:rPr>
              <a:t>patch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automatically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fix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detected</a:t>
            </a:r>
            <a:r>
              <a:rPr dirty="0" sz="1400" spc="-10">
                <a:latin typeface="Times New Roman"/>
                <a:cs typeface="Times New Roman"/>
              </a:rPr>
              <a:t> vulnerabilities.</a:t>
            </a:r>
            <a:endParaRPr sz="1400">
              <a:latin typeface="Times New Roman"/>
              <a:cs typeface="Times New Roman"/>
            </a:endParaRPr>
          </a:p>
          <a:p>
            <a:pPr marL="12700" marR="407670">
              <a:lnSpc>
                <a:spcPts val="1850"/>
              </a:lnSpc>
              <a:spcBef>
                <a:spcPts val="90"/>
              </a:spcBef>
            </a:pPr>
            <a:r>
              <a:rPr dirty="0" sz="1400">
                <a:latin typeface="Times New Roman"/>
                <a:cs typeface="Times New Roman"/>
              </a:rPr>
              <a:t>Continuous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reporting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teams </a:t>
            </a:r>
            <a:r>
              <a:rPr dirty="0" sz="1400">
                <a:latin typeface="Times New Roman"/>
                <a:cs typeface="Times New Roman"/>
              </a:rPr>
              <a:t>respond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faster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environment.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Future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Scope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SOC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SIEM</a:t>
            </a:r>
            <a:endParaRPr sz="1400">
              <a:latin typeface="Times New Roman"/>
              <a:cs typeface="Times New Roman"/>
            </a:endParaRPr>
          </a:p>
          <a:p>
            <a:pPr marL="12700" marR="66040">
              <a:lnSpc>
                <a:spcPct val="110200"/>
              </a:lnSpc>
              <a:spcBef>
                <a:spcPts val="960"/>
              </a:spcBef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become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powerful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with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integration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advanced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artificial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behavioral </a:t>
            </a:r>
            <a:r>
              <a:rPr dirty="0" sz="1400">
                <a:latin typeface="Times New Roman"/>
                <a:cs typeface="Times New Roman"/>
              </a:rPr>
              <a:t>analytics,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automation.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SIEM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IBM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QRadar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able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 more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accurately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large volumes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Future </a:t>
            </a: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faster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incident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mechanisms.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Integration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MISP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-10">
                <a:latin typeface="Times New Roman"/>
                <a:cs typeface="Times New Roman"/>
              </a:rPr>
              <a:t> organizations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emerging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their </a:t>
            </a:r>
            <a:r>
              <a:rPr dirty="0" sz="1400">
                <a:latin typeface="Times New Roman"/>
                <a:cs typeface="Times New Roman"/>
              </a:rPr>
              <a:t>networks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effectively.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Topics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Explored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several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concepts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explored.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These </a:t>
            </a:r>
            <a:r>
              <a:rPr dirty="0" sz="1400">
                <a:latin typeface="Times New Roman"/>
                <a:cs typeface="Times New Roman"/>
              </a:rPr>
              <a:t>topics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practices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 in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organizations.</a:t>
            </a:r>
            <a:endParaRPr sz="1400">
              <a:latin typeface="Times New Roman"/>
              <a:cs typeface="Times New Roman"/>
            </a:endParaRPr>
          </a:p>
          <a:p>
            <a:pPr marL="12700" marR="2736850">
              <a:lnSpc>
                <a:spcPct val="17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Testing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Assessment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  <a:p>
            <a:pPr marL="12700" marR="2368550">
              <a:lnSpc>
                <a:spcPts val="2860"/>
              </a:lnSpc>
              <a:spcBef>
                <a:spcPts val="265"/>
              </a:spcBef>
            </a:pP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(ZTNA)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Architecture Application-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Center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(SOC)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400">
                <a:latin typeface="Times New Roman"/>
                <a:cs typeface="Times New Roman"/>
              </a:rPr>
              <a:t>SOC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10">
                <a:latin typeface="Times New Roman"/>
                <a:cs typeface="Times New Roman"/>
              </a:rPr>
              <a:t> Handling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6713"/>
            <a:ext cx="5963920" cy="4801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(SIEM)</a:t>
            </a:r>
            <a:endParaRPr sz="1400">
              <a:latin typeface="Times New Roman"/>
              <a:cs typeface="Times New Roman"/>
            </a:endParaRPr>
          </a:p>
          <a:p>
            <a:pPr marL="12700" marR="2846705">
              <a:lnSpc>
                <a:spcPts val="2860"/>
              </a:lnSpc>
              <a:spcBef>
                <a:spcPts val="290"/>
              </a:spcBef>
            </a:pP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Malware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Analysis </a:t>
            </a:r>
            <a:r>
              <a:rPr dirty="0" sz="1400">
                <a:latin typeface="Times New Roman"/>
                <a:cs typeface="Times New Roman"/>
              </a:rPr>
              <a:t>Incident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Monitoring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Tools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Explored</a:t>
            </a:r>
            <a:endParaRPr sz="1400">
              <a:latin typeface="Times New Roman"/>
              <a:cs typeface="Times New Roman"/>
            </a:endParaRPr>
          </a:p>
          <a:p>
            <a:pPr marL="12700" marR="135890">
              <a:lnSpc>
                <a:spcPct val="11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Several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cybersecurity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studied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understood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completion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of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vulnerabilities,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events,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Nessus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005"/>
              </a:spcBef>
            </a:pPr>
            <a:r>
              <a:rPr dirty="0" sz="1400" b="1">
                <a:latin typeface="Times New Roman"/>
                <a:cs typeface="Times New Roman"/>
              </a:rPr>
              <a:t>IBM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QRadar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analyzing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events.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400" b="1">
                <a:latin typeface="Times New Roman"/>
                <a:cs typeface="Times New Roman"/>
              </a:rPr>
              <a:t>MISP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sharing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information.</a:t>
            </a:r>
            <a:endParaRPr sz="1400">
              <a:latin typeface="Times New Roman"/>
              <a:cs typeface="Times New Roman"/>
            </a:endParaRPr>
          </a:p>
          <a:p>
            <a:pPr marL="12700" marR="396240">
              <a:lnSpc>
                <a:spcPct val="111400"/>
              </a:lnSpc>
              <a:spcBef>
                <a:spcPts val="960"/>
              </a:spcBef>
            </a:pPr>
            <a:r>
              <a:rPr dirty="0" sz="1400" b="1">
                <a:latin typeface="Times New Roman"/>
                <a:cs typeface="Times New Roman"/>
              </a:rPr>
              <a:t>Zscaler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Private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implement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10">
                <a:latin typeface="Times New Roman"/>
                <a:cs typeface="Times New Roman"/>
              </a:rPr>
              <a:t>application-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7165975" cy="9451975"/>
          </a:xfrm>
          <a:custGeom>
            <a:avLst/>
            <a:gdLst/>
            <a:ahLst/>
            <a:cxnLst/>
            <a:rect l="l" t="t" r="r" b="b"/>
            <a:pathLst>
              <a:path w="7165975" h="9451975">
                <a:moveTo>
                  <a:pt x="7165581" y="9445460"/>
                </a:moveTo>
                <a:lnTo>
                  <a:pt x="7159498" y="9445460"/>
                </a:lnTo>
                <a:lnTo>
                  <a:pt x="6096" y="9445460"/>
                </a:lnTo>
                <a:lnTo>
                  <a:pt x="0" y="9445460"/>
                </a:lnTo>
                <a:lnTo>
                  <a:pt x="0" y="9451543"/>
                </a:lnTo>
                <a:lnTo>
                  <a:pt x="6096" y="9451543"/>
                </a:lnTo>
                <a:lnTo>
                  <a:pt x="7159498" y="9451543"/>
                </a:lnTo>
                <a:lnTo>
                  <a:pt x="7165581" y="9451543"/>
                </a:lnTo>
                <a:lnTo>
                  <a:pt x="7165581" y="9445460"/>
                </a:lnTo>
                <a:close/>
              </a:path>
              <a:path w="7165975" h="9451975">
                <a:moveTo>
                  <a:pt x="7165581" y="0"/>
                </a:moveTo>
                <a:lnTo>
                  <a:pt x="7159498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5447"/>
                </a:lnTo>
                <a:lnTo>
                  <a:pt x="6096" y="9445447"/>
                </a:lnTo>
                <a:lnTo>
                  <a:pt x="6096" y="6096"/>
                </a:lnTo>
                <a:lnTo>
                  <a:pt x="7159498" y="6096"/>
                </a:lnTo>
                <a:lnTo>
                  <a:pt x="7159498" y="9445447"/>
                </a:lnTo>
                <a:lnTo>
                  <a:pt x="7165581" y="9445447"/>
                </a:lnTo>
                <a:lnTo>
                  <a:pt x="7165581" y="6096"/>
                </a:lnTo>
                <a:lnTo>
                  <a:pt x="7165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terms:created xsi:type="dcterms:W3CDTF">2026-03-09T14:09:37Z</dcterms:created>
  <dcterms:modified xsi:type="dcterms:W3CDTF">2026-03-09T14:09:37Z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2026-03-09T00:00:00Z</vt:filetime>
  </property>
  <property fmtid="{D5CDD505-2E9C-101B-9397-08002B2CF9AE}" pid="5" name="Producer">
    <vt:lpwstr>www.ilovepdf.com</vt:lpwstr>
  </property>
</Properties>
</file>